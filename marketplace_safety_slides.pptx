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54AF1E-4C82-48AE-BAD0-2A999153E33B}" v="56" dt="2026-03-16T14:49:07.6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66" y="4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unus Emre Capar" userId="6e34af16be8e7db1" providerId="LiveId" clId="{1A4E8B3D-71E9-45CB-9AC9-58DE4384F4B0}"/>
    <pc:docChg chg="undo custSel modSld">
      <pc:chgData name="Yunus Emre Capar" userId="6e34af16be8e7db1" providerId="LiveId" clId="{1A4E8B3D-71E9-45CB-9AC9-58DE4384F4B0}" dt="2026-03-16T14:49:07.663" v="190"/>
      <pc:docMkLst>
        <pc:docMk/>
      </pc:docMkLst>
      <pc:sldChg chg="modSp mod">
        <pc:chgData name="Yunus Emre Capar" userId="6e34af16be8e7db1" providerId="LiveId" clId="{1A4E8B3D-71E9-45CB-9AC9-58DE4384F4B0}" dt="2026-03-16T14:10:55.303" v="29"/>
        <pc:sldMkLst>
          <pc:docMk/>
          <pc:sldMk cId="0" sldId="258"/>
        </pc:sldMkLst>
        <pc:spChg chg="mod">
          <ac:chgData name="Yunus Emre Capar" userId="6e34af16be8e7db1" providerId="LiveId" clId="{1A4E8B3D-71E9-45CB-9AC9-58DE4384F4B0}" dt="2026-03-16T14:08:48.581" v="16" actId="120"/>
          <ac:spMkLst>
            <pc:docMk/>
            <pc:sldMk cId="0" sldId="258"/>
            <ac:spMk id="4" creationId="{00000000-0000-0000-0000-000000000000}"/>
          </ac:spMkLst>
        </pc:spChg>
        <pc:spChg chg="mod">
          <ac:chgData name="Yunus Emre Capar" userId="6e34af16be8e7db1" providerId="LiveId" clId="{1A4E8B3D-71E9-45CB-9AC9-58DE4384F4B0}" dt="2026-03-16T14:10:23.279" v="28" actId="20577"/>
          <ac:spMkLst>
            <pc:docMk/>
            <pc:sldMk cId="0" sldId="258"/>
            <ac:spMk id="15" creationId="{00000000-0000-0000-0000-000000000000}"/>
          </ac:spMkLst>
        </pc:spChg>
        <pc:spChg chg="mod">
          <ac:chgData name="Yunus Emre Capar" userId="6e34af16be8e7db1" providerId="LiveId" clId="{1A4E8B3D-71E9-45CB-9AC9-58DE4384F4B0}" dt="2026-03-16T14:03:10.812" v="9"/>
          <ac:spMkLst>
            <pc:docMk/>
            <pc:sldMk cId="0" sldId="258"/>
            <ac:spMk id="20" creationId="{00000000-0000-0000-0000-000000000000}"/>
          </ac:spMkLst>
        </pc:spChg>
        <pc:spChg chg="mod">
          <ac:chgData name="Yunus Emre Capar" userId="6e34af16be8e7db1" providerId="LiveId" clId="{1A4E8B3D-71E9-45CB-9AC9-58DE4384F4B0}" dt="2026-03-16T14:10:55.303" v="29"/>
          <ac:spMkLst>
            <pc:docMk/>
            <pc:sldMk cId="0" sldId="258"/>
            <ac:spMk id="21" creationId="{00000000-0000-0000-0000-000000000000}"/>
          </ac:spMkLst>
        </pc:spChg>
      </pc:sldChg>
      <pc:sldChg chg="modSp mod">
        <pc:chgData name="Yunus Emre Capar" userId="6e34af16be8e7db1" providerId="LiveId" clId="{1A4E8B3D-71E9-45CB-9AC9-58DE4384F4B0}" dt="2026-03-16T14:19:57.217" v="52" actId="20577"/>
        <pc:sldMkLst>
          <pc:docMk/>
          <pc:sldMk cId="0" sldId="259"/>
        </pc:sldMkLst>
        <pc:spChg chg="mod">
          <ac:chgData name="Yunus Emre Capar" userId="6e34af16be8e7db1" providerId="LiveId" clId="{1A4E8B3D-71E9-45CB-9AC9-58DE4384F4B0}" dt="2026-03-11T12:47:28.960" v="3" actId="14100"/>
          <ac:spMkLst>
            <pc:docMk/>
            <pc:sldMk cId="0" sldId="259"/>
            <ac:spMk id="3" creationId="{00000000-0000-0000-0000-000000000000}"/>
          </ac:spMkLst>
        </pc:spChg>
        <pc:spChg chg="mod">
          <ac:chgData name="Yunus Emre Capar" userId="6e34af16be8e7db1" providerId="LiveId" clId="{1A4E8B3D-71E9-45CB-9AC9-58DE4384F4B0}" dt="2026-03-11T12:48:11.610" v="7" actId="14100"/>
          <ac:spMkLst>
            <pc:docMk/>
            <pc:sldMk cId="0" sldId="259"/>
            <ac:spMk id="4" creationId="{00000000-0000-0000-0000-000000000000}"/>
          </ac:spMkLst>
        </pc:spChg>
        <pc:spChg chg="mod">
          <ac:chgData name="Yunus Emre Capar" userId="6e34af16be8e7db1" providerId="LiveId" clId="{1A4E8B3D-71E9-45CB-9AC9-58DE4384F4B0}" dt="2026-03-16T14:19:57.217" v="52" actId="20577"/>
          <ac:spMkLst>
            <pc:docMk/>
            <pc:sldMk cId="0" sldId="259"/>
            <ac:spMk id="40" creationId="{00000000-0000-0000-0000-000000000000}"/>
          </ac:spMkLst>
        </pc:spChg>
        <pc:graphicFrameChg chg="modGraphic">
          <ac:chgData name="Yunus Emre Capar" userId="6e34af16be8e7db1" providerId="LiveId" clId="{1A4E8B3D-71E9-45CB-9AC9-58DE4384F4B0}" dt="2026-03-16T14:16:54.157" v="35" actId="20577"/>
          <ac:graphicFrameMkLst>
            <pc:docMk/>
            <pc:sldMk cId="0" sldId="259"/>
            <ac:graphicFrameMk id="43" creationId="{72C8AFF7-0E47-2678-2A01-53551B3BFD4D}"/>
          </ac:graphicFrameMkLst>
        </pc:graphicFrameChg>
      </pc:sldChg>
      <pc:sldChg chg="addSp modSp mod">
        <pc:chgData name="Yunus Emre Capar" userId="6e34af16be8e7db1" providerId="LiveId" clId="{1A4E8B3D-71E9-45CB-9AC9-58DE4384F4B0}" dt="2026-03-16T14:35:12.892" v="120" actId="1076"/>
        <pc:sldMkLst>
          <pc:docMk/>
          <pc:sldMk cId="0" sldId="260"/>
        </pc:sldMkLst>
        <pc:spChg chg="mod">
          <ac:chgData name="Yunus Emre Capar" userId="6e34af16be8e7db1" providerId="LiveId" clId="{1A4E8B3D-71E9-45CB-9AC9-58DE4384F4B0}" dt="2026-03-16T14:21:53.047" v="57" actId="113"/>
          <ac:spMkLst>
            <pc:docMk/>
            <pc:sldMk cId="0" sldId="260"/>
            <ac:spMk id="4" creationId="{00000000-0000-0000-0000-000000000000}"/>
          </ac:spMkLst>
        </pc:spChg>
        <pc:spChg chg="mod">
          <ac:chgData name="Yunus Emre Capar" userId="6e34af16be8e7db1" providerId="LiveId" clId="{1A4E8B3D-71E9-45CB-9AC9-58DE4384F4B0}" dt="2026-03-16T14:22:18.328" v="61" actId="113"/>
          <ac:spMkLst>
            <pc:docMk/>
            <pc:sldMk cId="0" sldId="260"/>
            <ac:spMk id="6" creationId="{00000000-0000-0000-0000-000000000000}"/>
          </ac:spMkLst>
        </pc:spChg>
        <pc:spChg chg="mod">
          <ac:chgData name="Yunus Emre Capar" userId="6e34af16be8e7db1" providerId="LiveId" clId="{1A4E8B3D-71E9-45CB-9AC9-58DE4384F4B0}" dt="2026-03-16T14:22:43.560" v="67" actId="114"/>
          <ac:spMkLst>
            <pc:docMk/>
            <pc:sldMk cId="0" sldId="260"/>
            <ac:spMk id="7" creationId="{00000000-0000-0000-0000-000000000000}"/>
          </ac:spMkLst>
        </pc:spChg>
        <pc:spChg chg="mod">
          <ac:chgData name="Yunus Emre Capar" userId="6e34af16be8e7db1" providerId="LiveId" clId="{1A4E8B3D-71E9-45CB-9AC9-58DE4384F4B0}" dt="2026-03-16T14:23:02.738" v="71" actId="113"/>
          <ac:spMkLst>
            <pc:docMk/>
            <pc:sldMk cId="0" sldId="260"/>
            <ac:spMk id="8" creationId="{00000000-0000-0000-0000-000000000000}"/>
          </ac:spMkLst>
        </pc:spChg>
        <pc:spChg chg="add">
          <ac:chgData name="Yunus Emre Capar" userId="6e34af16be8e7db1" providerId="LiveId" clId="{1A4E8B3D-71E9-45CB-9AC9-58DE4384F4B0}" dt="2026-03-16T14:33:20.357" v="100"/>
          <ac:spMkLst>
            <pc:docMk/>
            <pc:sldMk cId="0" sldId="260"/>
            <ac:spMk id="9" creationId="{716DB9BF-E61B-0B72-971D-0E4362D36838}"/>
          </ac:spMkLst>
        </pc:spChg>
        <pc:spChg chg="add mod">
          <ac:chgData name="Yunus Emre Capar" userId="6e34af16be8e7db1" providerId="LiveId" clId="{1A4E8B3D-71E9-45CB-9AC9-58DE4384F4B0}" dt="2026-03-16T14:35:12.892" v="120" actId="1076"/>
          <ac:spMkLst>
            <pc:docMk/>
            <pc:sldMk cId="0" sldId="260"/>
            <ac:spMk id="10" creationId="{79CD0458-E099-CD06-A7F2-682930136BD9}"/>
          </ac:spMkLst>
        </pc:spChg>
        <pc:spChg chg="add">
          <ac:chgData name="Yunus Emre Capar" userId="6e34af16be8e7db1" providerId="LiveId" clId="{1A4E8B3D-71E9-45CB-9AC9-58DE4384F4B0}" dt="2026-03-16T14:34:02.880" v="107"/>
          <ac:spMkLst>
            <pc:docMk/>
            <pc:sldMk cId="0" sldId="260"/>
            <ac:spMk id="11" creationId="{32969947-47A5-C9DF-5601-FB78E71F78E2}"/>
          </ac:spMkLst>
        </pc:spChg>
        <pc:spChg chg="add">
          <ac:chgData name="Yunus Emre Capar" userId="6e34af16be8e7db1" providerId="LiveId" clId="{1A4E8B3D-71E9-45CB-9AC9-58DE4384F4B0}" dt="2026-03-16T14:34:08.112" v="108"/>
          <ac:spMkLst>
            <pc:docMk/>
            <pc:sldMk cId="0" sldId="260"/>
            <ac:spMk id="12" creationId="{C3D9BE1C-158E-064B-B65B-3FA22143984E}"/>
          </ac:spMkLst>
        </pc:spChg>
        <pc:spChg chg="add">
          <ac:chgData name="Yunus Emre Capar" userId="6e34af16be8e7db1" providerId="LiveId" clId="{1A4E8B3D-71E9-45CB-9AC9-58DE4384F4B0}" dt="2026-03-16T14:34:13.434" v="109"/>
          <ac:spMkLst>
            <pc:docMk/>
            <pc:sldMk cId="0" sldId="260"/>
            <ac:spMk id="13" creationId="{17C30343-4885-0C2C-7DC8-393DEB5F6AD4}"/>
          </ac:spMkLst>
        </pc:spChg>
        <pc:spChg chg="add">
          <ac:chgData name="Yunus Emre Capar" userId="6e34af16be8e7db1" providerId="LiveId" clId="{1A4E8B3D-71E9-45CB-9AC9-58DE4384F4B0}" dt="2026-03-16T14:34:17.971" v="111"/>
          <ac:spMkLst>
            <pc:docMk/>
            <pc:sldMk cId="0" sldId="260"/>
            <ac:spMk id="14" creationId="{34E41B34-0DEF-8CC8-52CB-0DE21030A91A}"/>
          </ac:spMkLst>
        </pc:spChg>
        <pc:spChg chg="mod">
          <ac:chgData name="Yunus Emre Capar" userId="6e34af16be8e7db1" providerId="LiveId" clId="{1A4E8B3D-71E9-45CB-9AC9-58DE4384F4B0}" dt="2026-03-16T14:31:31.243" v="89" actId="1076"/>
          <ac:spMkLst>
            <pc:docMk/>
            <pc:sldMk cId="0" sldId="260"/>
            <ac:spMk id="27" creationId="{00000000-0000-0000-0000-000000000000}"/>
          </ac:spMkLst>
        </pc:spChg>
        <pc:graphicFrameChg chg="mod modGraphic">
          <ac:chgData name="Yunus Emre Capar" userId="6e34af16be8e7db1" providerId="LiveId" clId="{1A4E8B3D-71E9-45CB-9AC9-58DE4384F4B0}" dt="2026-03-16T14:32:38.686" v="99"/>
          <ac:graphicFrameMkLst>
            <pc:docMk/>
            <pc:sldMk cId="0" sldId="260"/>
            <ac:graphicFrameMk id="29" creationId="{0258630A-265A-7FF7-9963-CB58F53B409B}"/>
          </ac:graphicFrameMkLst>
        </pc:graphicFrameChg>
      </pc:sldChg>
      <pc:sldChg chg="delSp modSp mod">
        <pc:chgData name="Yunus Emre Capar" userId="6e34af16be8e7db1" providerId="LiveId" clId="{1A4E8B3D-71E9-45CB-9AC9-58DE4384F4B0}" dt="2026-03-16T14:44:30.449" v="179" actId="478"/>
        <pc:sldMkLst>
          <pc:docMk/>
          <pc:sldMk cId="0" sldId="261"/>
        </pc:sldMkLst>
        <pc:spChg chg="mod">
          <ac:chgData name="Yunus Emre Capar" userId="6e34af16be8e7db1" providerId="LiveId" clId="{1A4E8B3D-71E9-45CB-9AC9-58DE4384F4B0}" dt="2026-03-16T14:43:22.605" v="173" actId="255"/>
          <ac:spMkLst>
            <pc:docMk/>
            <pc:sldMk cId="0" sldId="261"/>
            <ac:spMk id="5" creationId="{00000000-0000-0000-0000-000000000000}"/>
          </ac:spMkLst>
        </pc:spChg>
        <pc:spChg chg="mod">
          <ac:chgData name="Yunus Emre Capar" userId="6e34af16be8e7db1" providerId="LiveId" clId="{1A4E8B3D-71E9-45CB-9AC9-58DE4384F4B0}" dt="2026-03-16T14:39:50.258" v="165"/>
          <ac:spMkLst>
            <pc:docMk/>
            <pc:sldMk cId="0" sldId="261"/>
            <ac:spMk id="33" creationId="{00000000-0000-0000-0000-000000000000}"/>
          </ac:spMkLst>
        </pc:spChg>
        <pc:spChg chg="del mod">
          <ac:chgData name="Yunus Emre Capar" userId="6e34af16be8e7db1" providerId="LiveId" clId="{1A4E8B3D-71E9-45CB-9AC9-58DE4384F4B0}" dt="2026-03-16T14:44:30.449" v="179" actId="478"/>
          <ac:spMkLst>
            <pc:docMk/>
            <pc:sldMk cId="0" sldId="261"/>
            <ac:spMk id="34" creationId="{00000000-0000-0000-0000-000000000000}"/>
          </ac:spMkLst>
        </pc:spChg>
        <pc:spChg chg="mod">
          <ac:chgData name="Yunus Emre Capar" userId="6e34af16be8e7db1" providerId="LiveId" clId="{1A4E8B3D-71E9-45CB-9AC9-58DE4384F4B0}" dt="2026-03-16T14:44:18.859" v="175"/>
          <ac:spMkLst>
            <pc:docMk/>
            <pc:sldMk cId="0" sldId="261"/>
            <ac:spMk id="35" creationId="{00000000-0000-0000-0000-000000000000}"/>
          </ac:spMkLst>
        </pc:spChg>
        <pc:spChg chg="del mod">
          <ac:chgData name="Yunus Emre Capar" userId="6e34af16be8e7db1" providerId="LiveId" clId="{1A4E8B3D-71E9-45CB-9AC9-58DE4384F4B0}" dt="2026-03-16T14:44:26.576" v="177" actId="478"/>
          <ac:spMkLst>
            <pc:docMk/>
            <pc:sldMk cId="0" sldId="261"/>
            <ac:spMk id="36" creationId="{00000000-0000-0000-0000-000000000000}"/>
          </ac:spMkLst>
        </pc:spChg>
        <pc:graphicFrameChg chg="mod modGraphic">
          <ac:chgData name="Yunus Emre Capar" userId="6e34af16be8e7db1" providerId="LiveId" clId="{1A4E8B3D-71E9-45CB-9AC9-58DE4384F4B0}" dt="2026-03-16T14:38:48.159" v="145" actId="122"/>
          <ac:graphicFrameMkLst>
            <pc:docMk/>
            <pc:sldMk cId="0" sldId="261"/>
            <ac:graphicFrameMk id="39" creationId="{5F474FA4-EF3E-A05F-CCCF-75A825666D37}"/>
          </ac:graphicFrameMkLst>
        </pc:graphicFrameChg>
      </pc:sldChg>
      <pc:sldChg chg="modSp mod">
        <pc:chgData name="Yunus Emre Capar" userId="6e34af16be8e7db1" providerId="LiveId" clId="{1A4E8B3D-71E9-45CB-9AC9-58DE4384F4B0}" dt="2026-03-16T14:49:07.663" v="190"/>
        <pc:sldMkLst>
          <pc:docMk/>
          <pc:sldMk cId="0" sldId="262"/>
        </pc:sldMkLst>
        <pc:spChg chg="mod">
          <ac:chgData name="Yunus Emre Capar" userId="6e34af16be8e7db1" providerId="LiveId" clId="{1A4E8B3D-71E9-45CB-9AC9-58DE4384F4B0}" dt="2026-03-16T14:46:17.680" v="181" actId="20577"/>
          <ac:spMkLst>
            <pc:docMk/>
            <pc:sldMk cId="0" sldId="262"/>
            <ac:spMk id="5" creationId="{00000000-0000-0000-0000-000000000000}"/>
          </ac:spMkLst>
        </pc:spChg>
        <pc:spChg chg="mod">
          <ac:chgData name="Yunus Emre Capar" userId="6e34af16be8e7db1" providerId="LiveId" clId="{1A4E8B3D-71E9-45CB-9AC9-58DE4384F4B0}" dt="2026-03-16T14:46:30.943" v="188" actId="20577"/>
          <ac:spMkLst>
            <pc:docMk/>
            <pc:sldMk cId="0" sldId="262"/>
            <ac:spMk id="7" creationId="{00000000-0000-0000-0000-000000000000}"/>
          </ac:spMkLst>
        </pc:spChg>
        <pc:spChg chg="mod">
          <ac:chgData name="Yunus Emre Capar" userId="6e34af16be8e7db1" providerId="LiveId" clId="{1A4E8B3D-71E9-45CB-9AC9-58DE4384F4B0}" dt="2026-03-16T14:48:50.683" v="189"/>
          <ac:spMkLst>
            <pc:docMk/>
            <pc:sldMk cId="0" sldId="262"/>
            <ac:spMk id="8" creationId="{00000000-0000-0000-0000-000000000000}"/>
          </ac:spMkLst>
        </pc:spChg>
        <pc:spChg chg="mod">
          <ac:chgData name="Yunus Emre Capar" userId="6e34af16be8e7db1" providerId="LiveId" clId="{1A4E8B3D-71E9-45CB-9AC9-58DE4384F4B0}" dt="2026-03-16T14:49:07.663" v="190"/>
          <ac:spMkLst>
            <pc:docMk/>
            <pc:sldMk cId="0" sldId="262"/>
            <ac:spMk id="1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1741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D9E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9E5EA"/>
          </a:solidFill>
          <a:ln w="12700">
            <a:solidFill>
              <a:srgbClr val="D9E5E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13232"/>
            <a:ext cx="3246120" cy="1938528"/>
          </a:xfrm>
          <a:prstGeom prst="rect">
            <a:avLst/>
          </a:prstGeom>
          <a:solidFill>
            <a:srgbClr val="F7F9FA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3" name="Text 1"/>
          <p:cNvSpPr/>
          <p:nvPr/>
        </p:nvSpPr>
        <p:spPr>
          <a:xfrm>
            <a:off x="713232" y="123444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+ kravkort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251960" y="713232"/>
            <a:ext cx="72237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4323A"/>
                </a:solidFill>
              </a:rPr>
              <a:t>Marketplace Safety – prioritera vad som ska granskas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297680" y="1481327"/>
            <a:ext cx="6858000" cy="446723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endParaRPr lang="en-US" sz="180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Char char="•"/>
            </a:pPr>
            <a:endParaRPr lang="en-US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Char char="•"/>
            </a:pPr>
            <a:endParaRPr lang="en-US" sz="180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Char char="•"/>
            </a:pPr>
            <a:endParaRPr lang="en-US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Char char="•"/>
            </a:pPr>
            <a:r>
              <a:rPr lang="en-US" sz="18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Plattformen</a:t>
            </a:r>
            <a:r>
              <a:rPr lang="en-US" sz="18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får många annonser och meddelanden – vissa är scam eller spam.</a:t>
            </a:r>
          </a:p>
          <a:p>
            <a:pPr marL="228600" indent="-228600">
              <a:buSzPct val="100000"/>
              <a:buChar char="•"/>
            </a:pPr>
            <a:endParaRPr lang="en-US" sz="180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&amp; Safety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hinner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inte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granska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allt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manuellt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28600" indent="-228600">
              <a:buSzPct val="100000"/>
              <a:buFontTx/>
              <a:buChar char="•"/>
            </a:pPr>
            <a:endParaRPr lang="en-US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Stakeholder: Ali (Operations Manager).</a:t>
            </a:r>
          </a:p>
          <a:p>
            <a:pPr marL="228600" indent="-228600">
              <a:buSzPct val="100000"/>
              <a:buFontTx/>
              <a:buChar char="•"/>
            </a:pPr>
            <a:endParaRPr lang="en-US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Viktigast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för Ali: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hanterbar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och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flaggningarna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känns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värda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granska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28600" indent="-228600">
              <a:buSzPct val="100000"/>
              <a:buFontTx/>
              <a:buChar char="•"/>
            </a:pPr>
            <a:endParaRPr lang="en-US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Mål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beslutsstöd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köras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regelbundet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och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fungera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på </a:t>
            </a:r>
            <a:r>
              <a:rPr lang="en-US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</a:t>
            </a:r>
            <a:r>
              <a:rPr lang="en-US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data.</a:t>
            </a:r>
            <a:endParaRPr lang="en-US" dirty="0">
              <a:solidFill>
                <a:srgbClr val="24323A"/>
              </a:solidFill>
              <a:latin typeface="Arial" pitchFamily="34" charset="0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endParaRPr lang="en-US" dirty="0">
              <a:solidFill>
                <a:srgbClr val="24323A"/>
              </a:solidFill>
              <a:latin typeface="Arial" pitchFamily="34" charset="0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i="1" dirty="0">
                <a:solidFill>
                  <a:srgbClr val="4D7182"/>
                </a:solidFill>
              </a:rPr>
              <a:t>Operations-</a:t>
            </a:r>
            <a:r>
              <a:rPr lang="en-US" i="1" dirty="0" err="1">
                <a:solidFill>
                  <a:srgbClr val="4D7182"/>
                </a:solidFill>
              </a:rPr>
              <a:t>fokus</a:t>
            </a:r>
            <a:r>
              <a:rPr lang="en-US" i="1" dirty="0">
                <a:solidFill>
                  <a:srgbClr val="4D7182"/>
                </a:solidFill>
              </a:rPr>
              <a:t>: </a:t>
            </a:r>
            <a:r>
              <a:rPr lang="en-US" i="1" dirty="0" err="1">
                <a:solidFill>
                  <a:srgbClr val="4D7182"/>
                </a:solidFill>
              </a:rPr>
              <a:t>färre</a:t>
            </a:r>
            <a:r>
              <a:rPr lang="en-US" i="1" dirty="0">
                <a:solidFill>
                  <a:srgbClr val="4D7182"/>
                </a:solidFill>
              </a:rPr>
              <a:t> men </a:t>
            </a:r>
            <a:r>
              <a:rPr lang="en-US" i="1" dirty="0" err="1">
                <a:solidFill>
                  <a:srgbClr val="4D7182"/>
                </a:solidFill>
              </a:rPr>
              <a:t>bättre</a:t>
            </a:r>
            <a:r>
              <a:rPr lang="en-US" i="1" dirty="0">
                <a:solidFill>
                  <a:srgbClr val="4D7182"/>
                </a:solidFill>
              </a:rPr>
              <a:t> </a:t>
            </a:r>
            <a:r>
              <a:rPr lang="en-US" i="1" dirty="0" err="1">
                <a:solidFill>
                  <a:srgbClr val="4D7182"/>
                </a:solidFill>
              </a:rPr>
              <a:t>flaggningar</a:t>
            </a:r>
            <a:r>
              <a:rPr lang="en-US" i="1" dirty="0">
                <a:solidFill>
                  <a:srgbClr val="4D7182"/>
                </a:solidFill>
              </a:rPr>
              <a:t>.</a:t>
            </a:r>
            <a:endParaRPr lang="en-US" dirty="0"/>
          </a:p>
          <a:p>
            <a:pPr marL="228600" indent="-228600">
              <a:buSzPct val="100000"/>
              <a:buFontTx/>
              <a:buChar char="•"/>
            </a:pPr>
            <a:endParaRPr lang="en-US" dirty="0"/>
          </a:p>
          <a:p>
            <a:pPr marL="228600" indent="-228600">
              <a:buSzPct val="100000"/>
              <a:buFontTx/>
              <a:buChar char="•"/>
            </a:pPr>
            <a:endParaRPr lang="en-US" dirty="0"/>
          </a:p>
          <a:p>
            <a:pPr marL="228600" indent="-228600">
              <a:buSzPct val="100000"/>
              <a:buFontTx/>
              <a:buChar char="•"/>
            </a:pPr>
            <a:endParaRPr lang="en-US" dirty="0"/>
          </a:p>
          <a:p>
            <a:pPr marL="228600" indent="-228600">
              <a:buSzPct val="100000"/>
              <a:buFontTx/>
              <a:buChar char="•"/>
            </a:pPr>
            <a:endParaRPr lang="en-US" dirty="0"/>
          </a:p>
          <a:p>
            <a:pPr marL="228600" indent="-228600">
              <a:buSzPct val="100000"/>
              <a:buChar char="•"/>
            </a:pP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521440" y="644652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078"/>
                </a:solidFill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669" y="451833"/>
            <a:ext cx="3246120" cy="1938528"/>
          </a:xfrm>
          <a:prstGeom prst="rect">
            <a:avLst/>
          </a:prstGeom>
          <a:solidFill>
            <a:srgbClr val="F7F9FA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3" name="Text 1"/>
          <p:cNvSpPr/>
          <p:nvPr/>
        </p:nvSpPr>
        <p:spPr>
          <a:xfrm>
            <a:off x="713232" y="530352"/>
            <a:ext cx="27432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INSIKTER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(historical_data)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315968" y="53035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4323A"/>
                </a:solidFill>
              </a:rPr>
              <a:t>Historisk data används för att förstå problemet och bygga modellen.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669" y="2756916"/>
            <a:ext cx="3246120" cy="3410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endParaRPr lang="en-US" sz="1550" b="1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Char char="•"/>
            </a:pPr>
            <a:endParaRPr lang="en-US" sz="1550" b="1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Char char="•"/>
            </a:pPr>
            <a:r>
              <a:rPr lang="en-US" sz="1550" b="1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Dataset: 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12 000 rader och 18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kolumner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28600" indent="-228600">
              <a:buSzPct val="100000"/>
              <a:buChar char="•"/>
            </a:pPr>
            <a:endParaRPr lang="en-US" sz="155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sz="1550" b="1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</a:t>
            </a:r>
            <a:r>
              <a:rPr lang="en-US" sz="1550" b="1" i="1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is_suspicious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ca 10%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misstänkta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och 90%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misstänkta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28600" indent="-228600">
              <a:buSzPct val="100000"/>
              <a:buFontTx/>
              <a:buChar char="•"/>
            </a:pPr>
            <a:endParaRPr lang="en-US" sz="155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Misstänkta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konton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tenderar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vara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yngre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28600" indent="-228600">
              <a:buSzPct val="100000"/>
              <a:buFontTx/>
              <a:buChar char="•"/>
            </a:pPr>
            <a:endParaRPr lang="en-US" sz="155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Saknade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värden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finns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främst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price, </a:t>
            </a:r>
            <a:r>
              <a:rPr lang="en-US" sz="1550" i="1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time_to_first_response_min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och </a:t>
            </a:r>
            <a:r>
              <a:rPr lang="en-US" sz="1550" i="1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50" dirty="0"/>
          </a:p>
          <a:p>
            <a:pPr marL="228600" indent="-228600">
              <a:buSzPct val="100000"/>
              <a:buFontTx/>
              <a:buChar char="•"/>
            </a:pPr>
            <a:endParaRPr lang="en-US" sz="1550" dirty="0"/>
          </a:p>
          <a:p>
            <a:pPr marL="228600" indent="-228600">
              <a:buSzPct val="100000"/>
              <a:buFontTx/>
              <a:buChar char="•"/>
            </a:pPr>
            <a:endParaRPr lang="en-US" sz="1550" dirty="0"/>
          </a:p>
          <a:p>
            <a:pPr marL="228600" indent="-228600">
              <a:buSzPct val="100000"/>
              <a:buChar char="•"/>
            </a:pPr>
            <a:endParaRPr lang="en-US" sz="1550" dirty="0"/>
          </a:p>
        </p:txBody>
      </p:sp>
      <p:pic>
        <p:nvPicPr>
          <p:cNvPr id="9" name="Image 0" descr="/mnt/data/slide_assets/class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498" y="1234440"/>
            <a:ext cx="3246120" cy="2103120"/>
          </a:xfrm>
          <a:prstGeom prst="rect">
            <a:avLst/>
          </a:prstGeom>
        </p:spPr>
      </p:pic>
      <p:pic>
        <p:nvPicPr>
          <p:cNvPr id="10" name="Image 1" descr="/mnt/data/slide_assets/missing_to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5034" y="1234440"/>
            <a:ext cx="3516406" cy="209397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98498" y="3364992"/>
            <a:ext cx="318164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F7078"/>
                </a:solidFill>
              </a:rPr>
              <a:t>Endast ca 10% är misstänkta → obalanserat problem.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8005034" y="3364992"/>
            <a:ext cx="36495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F7078"/>
                </a:solidFill>
              </a:rPr>
              <a:t>Saknade värden hanteras i pipelinen med imputering.</a:t>
            </a:r>
            <a:endParaRPr lang="en-US" sz="1350" dirty="0"/>
          </a:p>
        </p:txBody>
      </p:sp>
      <p:pic>
        <p:nvPicPr>
          <p:cNvPr id="13" name="Image 2" descr="/mnt/data/slide_assets/account_age_boxpl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8498" y="4041648"/>
            <a:ext cx="3181643" cy="22860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28432" y="4041648"/>
            <a:ext cx="3383280" cy="169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4323A"/>
                </a:solidFill>
              </a:rPr>
              <a:t>Yngre konton verkar oftare vara kopplade till misstänkt </a:t>
            </a:r>
            <a:r>
              <a:rPr lang="en-US" sz="1600" dirty="0" err="1">
                <a:solidFill>
                  <a:srgbClr val="24323A"/>
                </a:solidFill>
              </a:rPr>
              <a:t>beteende</a:t>
            </a:r>
            <a:r>
              <a:rPr lang="en-US" sz="1600" dirty="0">
                <a:solidFill>
                  <a:srgbClr val="24323A"/>
                </a:solidFill>
              </a:rPr>
              <a:t>.</a:t>
            </a:r>
          </a:p>
          <a:p>
            <a:endParaRPr lang="en-US" sz="1600" dirty="0">
              <a:solidFill>
                <a:srgbClr val="24323A"/>
              </a:solidFill>
            </a:endParaRPr>
          </a:p>
          <a:p>
            <a:r>
              <a:rPr lang="en-US" sz="1600" i="1" dirty="0">
                <a:solidFill>
                  <a:srgbClr val="5F7078"/>
                </a:solidFill>
              </a:rPr>
              <a:t>Detta </a:t>
            </a:r>
            <a:r>
              <a:rPr lang="en-US" sz="1600" i="1" dirty="0" err="1">
                <a:solidFill>
                  <a:srgbClr val="5F7078"/>
                </a:solidFill>
              </a:rPr>
              <a:t>tyder</a:t>
            </a:r>
            <a:r>
              <a:rPr lang="en-US" sz="1600" i="1" dirty="0">
                <a:solidFill>
                  <a:srgbClr val="5F7078"/>
                </a:solidFill>
              </a:rPr>
              <a:t> på </a:t>
            </a:r>
            <a:r>
              <a:rPr lang="en-US" sz="1600" i="1" dirty="0" err="1">
                <a:solidFill>
                  <a:srgbClr val="5F7078"/>
                </a:solidFill>
              </a:rPr>
              <a:t>att</a:t>
            </a:r>
            <a:r>
              <a:rPr lang="en-US" sz="1600" i="1" dirty="0">
                <a:solidFill>
                  <a:srgbClr val="5F7078"/>
                </a:solidFill>
              </a:rPr>
              <a:t> </a:t>
            </a:r>
            <a:r>
              <a:rPr lang="en-US" sz="1600" i="1" dirty="0" err="1">
                <a:solidFill>
                  <a:srgbClr val="5F7078"/>
                </a:solidFill>
              </a:rPr>
              <a:t>kontoålder</a:t>
            </a:r>
            <a:r>
              <a:rPr lang="en-US" sz="1600" i="1" dirty="0">
                <a:solidFill>
                  <a:srgbClr val="5F7078"/>
                </a:solidFill>
              </a:rPr>
              <a:t> </a:t>
            </a:r>
            <a:r>
              <a:rPr lang="en-US" sz="1600" i="1" dirty="0" err="1">
                <a:solidFill>
                  <a:srgbClr val="5F7078"/>
                </a:solidFill>
              </a:rPr>
              <a:t>kan</a:t>
            </a:r>
            <a:r>
              <a:rPr lang="en-US" sz="1600" i="1" dirty="0">
                <a:solidFill>
                  <a:srgbClr val="5F7078"/>
                </a:solidFill>
              </a:rPr>
              <a:t> </a:t>
            </a:r>
            <a:r>
              <a:rPr lang="en-US" sz="1600" i="1" dirty="0" err="1">
                <a:solidFill>
                  <a:srgbClr val="5F7078"/>
                </a:solidFill>
              </a:rPr>
              <a:t>vara</a:t>
            </a:r>
            <a:r>
              <a:rPr lang="en-US" sz="1600" i="1" dirty="0">
                <a:solidFill>
                  <a:srgbClr val="5F7078"/>
                </a:solidFill>
              </a:rPr>
              <a:t> </a:t>
            </a:r>
            <a:r>
              <a:rPr lang="en-US" sz="1600" i="1" dirty="0" err="1">
                <a:solidFill>
                  <a:srgbClr val="5F7078"/>
                </a:solidFill>
              </a:rPr>
              <a:t>en</a:t>
            </a:r>
            <a:r>
              <a:rPr lang="en-US" sz="1600" i="1" dirty="0">
                <a:solidFill>
                  <a:srgbClr val="5F7078"/>
                </a:solidFill>
              </a:rPr>
              <a:t> </a:t>
            </a:r>
            <a:r>
              <a:rPr lang="en-US" sz="1600" i="1" dirty="0" err="1">
                <a:solidFill>
                  <a:srgbClr val="5F7078"/>
                </a:solidFill>
              </a:rPr>
              <a:t>viktig</a:t>
            </a:r>
            <a:r>
              <a:rPr lang="en-US" sz="1600" i="1" dirty="0">
                <a:solidFill>
                  <a:srgbClr val="5F7078"/>
                </a:solidFill>
              </a:rPr>
              <a:t> feature </a:t>
            </a:r>
            <a:r>
              <a:rPr lang="en-US" sz="1600" i="1" dirty="0" err="1">
                <a:solidFill>
                  <a:srgbClr val="5F7078"/>
                </a:solidFill>
              </a:rPr>
              <a:t>i</a:t>
            </a:r>
            <a:r>
              <a:rPr lang="en-US" sz="1600" i="1" dirty="0">
                <a:solidFill>
                  <a:srgbClr val="5F7078"/>
                </a:solidFill>
              </a:rPr>
              <a:t> </a:t>
            </a:r>
            <a:r>
              <a:rPr lang="en-US" sz="1600" i="1" dirty="0" err="1">
                <a:solidFill>
                  <a:srgbClr val="5F7078"/>
                </a:solidFill>
              </a:rPr>
              <a:t>modellen</a:t>
            </a:r>
            <a:r>
              <a:rPr lang="en-US" sz="1600" i="1" dirty="0">
                <a:solidFill>
                  <a:srgbClr val="5F7078"/>
                </a:solidFill>
              </a:rPr>
              <a:t>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1521440" y="644652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078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13232"/>
            <a:ext cx="3246120" cy="1938528"/>
          </a:xfrm>
          <a:prstGeom prst="rect">
            <a:avLst/>
          </a:prstGeom>
          <a:solidFill>
            <a:srgbClr val="F7F9FA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3" name="Text 1"/>
          <p:cNvSpPr/>
          <p:nvPr/>
        </p:nvSpPr>
        <p:spPr>
          <a:xfrm>
            <a:off x="713232" y="964096"/>
            <a:ext cx="2743200" cy="1321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&amp;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PREPROCESSING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leakage-säker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251960" y="0"/>
            <a:ext cx="7406640" cy="5605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sv-SE" sz="2400" b="1" dirty="0"/>
              <a:t>Samma pipeline används i CV, test och när vi kör </a:t>
            </a:r>
            <a:r>
              <a:rPr lang="sv-SE" sz="2400" b="1" dirty="0" err="1"/>
              <a:t>new_data</a:t>
            </a:r>
            <a:r>
              <a:rPr lang="en-US" sz="2300" b="1" dirty="0">
                <a:solidFill>
                  <a:srgbClr val="24323A"/>
                </a:solidFill>
              </a:rPr>
              <a:t>.</a:t>
            </a:r>
          </a:p>
          <a:p>
            <a:pPr marL="0" indent="0">
              <a:buNone/>
            </a:pPr>
            <a:endParaRPr lang="en-US" sz="2300" b="1" dirty="0">
              <a:solidFill>
                <a:srgbClr val="24323A"/>
              </a:solidFill>
            </a:endParaRPr>
          </a:p>
          <a:p>
            <a:r>
              <a:rPr lang="en-US" sz="1600" b="1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Arbetsflöde</a:t>
            </a:r>
            <a:endParaRPr lang="en-US" sz="1600" b="1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endParaRPr lang="en-US" sz="1600" b="1" dirty="0">
              <a:solidFill>
                <a:srgbClr val="24323A"/>
              </a:solidFill>
              <a:latin typeface="Arial" pitchFamily="34" charset="0"/>
              <a:cs typeface="Arial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Stratified train/test split på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historical_data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Numeriska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variabler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median-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imputering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Kategoriska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variabler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vanligaste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värdet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one-hot encoding.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Modellen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ligger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samma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pipeline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preprocessingen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pPr marL="0" indent="0">
              <a:buNone/>
            </a:pP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4315968" y="4114800"/>
            <a:ext cx="1874520" cy="658368"/>
          </a:xfrm>
          <a:prstGeom prst="rect">
            <a:avLst/>
          </a:prstGeom>
          <a:solidFill>
            <a:srgbClr val="F4F7F8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11" name="Shape 9"/>
          <p:cNvSpPr/>
          <p:nvPr/>
        </p:nvSpPr>
        <p:spPr>
          <a:xfrm>
            <a:off x="6492240" y="4114800"/>
            <a:ext cx="1874520" cy="658368"/>
          </a:xfrm>
          <a:prstGeom prst="rect">
            <a:avLst/>
          </a:prstGeom>
          <a:solidFill>
            <a:srgbClr val="F4F7F8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12" name="Shape 10"/>
          <p:cNvSpPr/>
          <p:nvPr/>
        </p:nvSpPr>
        <p:spPr>
          <a:xfrm>
            <a:off x="8668512" y="4114800"/>
            <a:ext cx="1874520" cy="658368"/>
          </a:xfrm>
          <a:prstGeom prst="rect">
            <a:avLst/>
          </a:prstGeom>
          <a:solidFill>
            <a:srgbClr val="F4F7F8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 dirty="0"/>
          </a:p>
        </p:txBody>
      </p:sp>
      <p:sp>
        <p:nvSpPr>
          <p:cNvPr id="13" name="Text 11"/>
          <p:cNvSpPr/>
          <p:nvPr/>
        </p:nvSpPr>
        <p:spPr>
          <a:xfrm>
            <a:off x="4498848" y="4279392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4323A"/>
                </a:solidFill>
              </a:rPr>
              <a:t>Train/Test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4323A"/>
                </a:solidFill>
              </a:rPr>
              <a:t>Split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56832" y="427939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4323A"/>
                </a:solidFill>
              </a:rPr>
              <a:t>Preprocess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4323A"/>
                </a:solidFill>
              </a:rPr>
              <a:t>+ Impute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869680" y="427939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4323A"/>
                </a:solidFill>
              </a:rPr>
              <a:t>Modell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4323A"/>
                </a:solidFill>
              </a:rPr>
              <a:t>+ (CV/Test)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245352" y="427939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D7182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21624" y="427939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D7182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297680" y="4937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Varför pipeline?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297680" y="5349240"/>
            <a:ext cx="64008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Undviker data leakage.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297680" y="5742432"/>
            <a:ext cx="64008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lösningen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reproducerbar</a:t>
            </a: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297680" y="6135624"/>
            <a:ext cx="64008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 det enkelt att köra exakt samma flöde på </a:t>
            </a:r>
            <a:r>
              <a:rPr lang="en-US" sz="1600" dirty="0"/>
              <a:t>new_data.csv</a:t>
            </a:r>
          </a:p>
        </p:txBody>
      </p:sp>
      <p:sp>
        <p:nvSpPr>
          <p:cNvPr id="22" name="Text 20"/>
          <p:cNvSpPr/>
          <p:nvPr/>
        </p:nvSpPr>
        <p:spPr>
          <a:xfrm>
            <a:off x="11521440" y="644652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078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60344"/>
            <a:ext cx="3246120" cy="2097157"/>
          </a:xfrm>
          <a:prstGeom prst="rect">
            <a:avLst/>
          </a:prstGeom>
          <a:solidFill>
            <a:srgbClr val="F7F9FA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3" name="Text 1"/>
          <p:cNvSpPr/>
          <p:nvPr/>
        </p:nvSpPr>
        <p:spPr>
          <a:xfrm>
            <a:off x="506895" y="1051559"/>
            <a:ext cx="3160643" cy="1497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MODELLJÄMFÖRELSE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(cross-validation)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98064"/>
            <a:ext cx="3246120" cy="3299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Modeller: Baseline, Logistic Regression, Random Forest.</a:t>
            </a:r>
          </a:p>
          <a:p>
            <a:pPr marL="228600" indent="-228600">
              <a:buSzPct val="100000"/>
              <a:buChar char="•"/>
            </a:pPr>
            <a:endParaRPr lang="en-US" sz="155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jämför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med CV på train med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flera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metrics.</a:t>
            </a:r>
          </a:p>
          <a:p>
            <a:pPr marL="228600" indent="-228600">
              <a:buSzPct val="100000"/>
              <a:buFontTx/>
              <a:buChar char="•"/>
            </a:pPr>
            <a:endParaRPr lang="en-US" sz="1550" dirty="0">
              <a:solidFill>
                <a:srgbClr val="2432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är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viktigast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för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oss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eftersom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senare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använder</a:t>
            </a:r>
            <a:r>
              <a:rPr lang="en-US" sz="155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Top-X.</a:t>
            </a:r>
            <a:endParaRPr lang="en-US" sz="1550" dirty="0"/>
          </a:p>
          <a:p>
            <a:pPr marL="228600" indent="-228600">
              <a:buSzPct val="100000"/>
              <a:buFontTx/>
              <a:buChar char="•"/>
            </a:pPr>
            <a:endParaRPr lang="en-US" sz="1550" dirty="0"/>
          </a:p>
          <a:p>
            <a:pPr marL="228600" indent="-228600">
              <a:buSzPct val="100000"/>
              <a:buChar char="•"/>
            </a:pP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4297680" y="4378187"/>
            <a:ext cx="7132320" cy="559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24323A"/>
                </a:solidFill>
              </a:rPr>
              <a:t>Vi valde Logistic Regression eftersom den hade högst AP (bäst ranking), vilket passar vår Top-X-prioritering.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4315968" y="5038344"/>
            <a:ext cx="5120640" cy="398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5F7078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5F7078"/>
                </a:solidFill>
              </a:rPr>
              <a:t>Precision beror på vald threshold. I drift använder vi Top-X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1521440" y="644652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078"/>
                </a:solidFill>
              </a:rPr>
              <a:t>4</a:t>
            </a:r>
            <a:endParaRPr lang="en-US" sz="1000" dirty="0"/>
          </a:p>
        </p:txBody>
      </p:sp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72C8AFF7-0E47-2678-2A01-53551B3BFD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7058490"/>
              </p:ext>
            </p:extLst>
          </p:nvPr>
        </p:nvGraphicFramePr>
        <p:xfrm>
          <a:off x="4164495" y="760343"/>
          <a:ext cx="7941364" cy="329959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85341">
                  <a:extLst>
                    <a:ext uri="{9D8B030D-6E8A-4147-A177-3AD203B41FA5}">
                      <a16:colId xmlns:a16="http://schemas.microsoft.com/office/drawing/2014/main" val="3142963387"/>
                    </a:ext>
                  </a:extLst>
                </a:gridCol>
                <a:gridCol w="1985341">
                  <a:extLst>
                    <a:ext uri="{9D8B030D-6E8A-4147-A177-3AD203B41FA5}">
                      <a16:colId xmlns:a16="http://schemas.microsoft.com/office/drawing/2014/main" val="477341863"/>
                    </a:ext>
                  </a:extLst>
                </a:gridCol>
                <a:gridCol w="1985341">
                  <a:extLst>
                    <a:ext uri="{9D8B030D-6E8A-4147-A177-3AD203B41FA5}">
                      <a16:colId xmlns:a16="http://schemas.microsoft.com/office/drawing/2014/main" val="3835905417"/>
                    </a:ext>
                  </a:extLst>
                </a:gridCol>
                <a:gridCol w="1985341">
                  <a:extLst>
                    <a:ext uri="{9D8B030D-6E8A-4147-A177-3AD203B41FA5}">
                      <a16:colId xmlns:a16="http://schemas.microsoft.com/office/drawing/2014/main" val="3691258671"/>
                    </a:ext>
                  </a:extLst>
                </a:gridCol>
              </a:tblGrid>
              <a:tr h="47697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Modell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 (CV)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ROC-AUC (CV)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(CV)*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241180"/>
                  </a:ext>
                </a:extLst>
              </a:tr>
              <a:tr h="8232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</a:t>
                      </a:r>
                      <a:endParaRPr lang="en-US" sz="1800" dirty="0"/>
                    </a:p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(Dummy)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0.102</a:t>
                      </a:r>
                      <a:endParaRPr lang="en-US" sz="1800" dirty="0"/>
                    </a:p>
                    <a:p>
                      <a:pPr algn="ctr"/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0.500</a:t>
                      </a:r>
                      <a:endParaRPr lang="en-US" sz="1800" dirty="0"/>
                    </a:p>
                    <a:p>
                      <a:pPr algn="ctr"/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cs typeface="Arial" pitchFamily="34" charset="-120"/>
                        </a:rPr>
                        <a:t>0.102</a:t>
                      </a:r>
                      <a:endParaRPr lang="en-US" sz="1800" dirty="0"/>
                    </a:p>
                    <a:p>
                      <a:pPr algn="ctr"/>
                      <a:endParaRPr lang="en-S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512469"/>
                  </a:ext>
                </a:extLst>
              </a:tr>
              <a:tr h="8232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Forest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0.250</a:t>
                      </a:r>
                      <a:endParaRPr lang="en-US" sz="1800" dirty="0"/>
                    </a:p>
                    <a:p>
                      <a:pPr algn="ctr"/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0.731</a:t>
                      </a:r>
                      <a:endParaRPr lang="en-US" sz="1800" dirty="0"/>
                    </a:p>
                    <a:p>
                      <a:pPr algn="ctr"/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0.498</a:t>
                      </a:r>
                      <a:endParaRPr lang="en-US" sz="1800" dirty="0"/>
                    </a:p>
                    <a:p>
                      <a:pPr algn="ctr"/>
                      <a:endParaRPr lang="en-S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5945600"/>
                  </a:ext>
                </a:extLst>
              </a:tr>
              <a:tr h="11760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Logistic</a:t>
                      </a:r>
                      <a:endParaRPr lang="en-US" sz="1800" dirty="0"/>
                    </a:p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Regression</a:t>
                      </a:r>
                      <a:endParaRPr lang="en-US" sz="1800" dirty="0"/>
                    </a:p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</a:t>
                      </a:r>
                      <a:r>
                        <a:rPr lang="en-US" sz="1800" b="1" dirty="0" err="1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vald</a:t>
                      </a:r>
                      <a:r>
                        <a:rPr lang="en-US" sz="1800" b="1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)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0.286</a:t>
                      </a:r>
                      <a:endParaRPr lang="en-US" sz="1800" dirty="0"/>
                    </a:p>
                    <a:p>
                      <a:pPr algn="ctr"/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0.739</a:t>
                      </a:r>
                      <a:endParaRPr lang="en-US" sz="1800" dirty="0"/>
                    </a:p>
                    <a:p>
                      <a:pPr algn="ctr"/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0.584</a:t>
                      </a:r>
                      <a:endParaRPr lang="en-US" sz="1800" dirty="0"/>
                    </a:p>
                    <a:p>
                      <a:pPr algn="ctr"/>
                      <a:endParaRPr lang="en-S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143905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39856"/>
            <a:ext cx="3246120" cy="2067935"/>
          </a:xfrm>
          <a:prstGeom prst="rect">
            <a:avLst/>
          </a:prstGeom>
          <a:solidFill>
            <a:srgbClr val="F7F9FA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3" name="Text 1"/>
          <p:cNvSpPr/>
          <p:nvPr/>
        </p:nvSpPr>
        <p:spPr>
          <a:xfrm>
            <a:off x="713232" y="123444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VALD MODELL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TUNING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25196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sv-SE" sz="2400" b="1" dirty="0"/>
              <a:t>Vi finjusterade den valda modellen (</a:t>
            </a:r>
            <a:r>
              <a:rPr lang="sv-SE" sz="2400" b="1" dirty="0" err="1"/>
              <a:t>tuning</a:t>
            </a:r>
            <a:r>
              <a:rPr lang="sv-SE" sz="2400" b="1" dirty="0"/>
              <a:t>) utan att göra driften svår</a:t>
            </a:r>
            <a:r>
              <a:rPr lang="en-US" sz="2200" b="1" dirty="0">
                <a:solidFill>
                  <a:srgbClr val="24323A"/>
                </a:solidFill>
              </a:rPr>
              <a:t>.</a:t>
            </a:r>
            <a:endParaRPr lang="en-US" sz="2200" b="1" dirty="0"/>
          </a:p>
        </p:txBody>
      </p:sp>
      <p:sp>
        <p:nvSpPr>
          <p:cNvPr id="5" name="Text 3"/>
          <p:cNvSpPr/>
          <p:nvPr/>
        </p:nvSpPr>
        <p:spPr>
          <a:xfrm>
            <a:off x="4297680" y="1645920"/>
            <a:ext cx="65836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Vald modell: Logistic Regression.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297680" y="2121408"/>
            <a:ext cx="65836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/>
              <a:t>Tuning: </a:t>
            </a:r>
            <a:r>
              <a:rPr lang="en-US" sz="1600" dirty="0" err="1"/>
              <a:t>GridSearchCV</a:t>
            </a:r>
            <a:r>
              <a:rPr lang="en-US" sz="1600" dirty="0"/>
              <a:t> (</a:t>
            </a:r>
            <a:r>
              <a:rPr lang="en-US" sz="1600" dirty="0" err="1"/>
              <a:t>mål</a:t>
            </a:r>
            <a:r>
              <a:rPr lang="en-US" sz="1600" dirty="0"/>
              <a:t>: Average Precision / AP)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297680" y="2596896"/>
            <a:ext cx="65836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 err="1"/>
              <a:t>Bästa</a:t>
            </a:r>
            <a:r>
              <a:rPr lang="en-US" sz="1600" dirty="0"/>
              <a:t> </a:t>
            </a:r>
            <a:r>
              <a:rPr lang="en-US" sz="1600" dirty="0" err="1"/>
              <a:t>parametrar</a:t>
            </a:r>
            <a:r>
              <a:rPr lang="en-US" sz="1600" dirty="0"/>
              <a:t>: </a:t>
            </a:r>
            <a:r>
              <a:rPr lang="en-US" dirty="0"/>
              <a:t>C = 10</a:t>
            </a:r>
            <a:r>
              <a:rPr lang="en-US" sz="1600" dirty="0"/>
              <a:t>, </a:t>
            </a:r>
            <a:r>
              <a:rPr lang="en-US" i="1" dirty="0" err="1"/>
              <a:t>class_weight</a:t>
            </a:r>
            <a:r>
              <a:rPr lang="en-US" i="1" dirty="0"/>
              <a:t> </a:t>
            </a:r>
            <a:r>
              <a:rPr lang="en-US" dirty="0"/>
              <a:t>= None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297680" y="3072384"/>
            <a:ext cx="65836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 err="1"/>
              <a:t>Resultat</a:t>
            </a:r>
            <a:r>
              <a:rPr lang="en-US" sz="1600" dirty="0"/>
              <a:t>: Best CV AP 0.284 → Test AP 0.276, Test ROC-AUC 0.740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4292301" y="6096069"/>
            <a:ext cx="5897880" cy="496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sv-SE" sz="1100" dirty="0">
                <a:solidFill>
                  <a:schemeClr val="bg2">
                    <a:lumMod val="25000"/>
                  </a:schemeClr>
                </a:solidFill>
              </a:rPr>
              <a:t>Vi </a:t>
            </a:r>
            <a:r>
              <a:rPr lang="sv-SE" sz="1100" dirty="0" err="1">
                <a:solidFill>
                  <a:schemeClr val="bg2">
                    <a:lumMod val="25000"/>
                  </a:schemeClr>
                </a:solidFill>
              </a:rPr>
              <a:t>tunade</a:t>
            </a:r>
            <a:r>
              <a:rPr lang="sv-SE" sz="1100" dirty="0">
                <a:solidFill>
                  <a:schemeClr val="bg2">
                    <a:lumMod val="25000"/>
                  </a:schemeClr>
                </a:solidFill>
              </a:rPr>
              <a:t> få parametrar för att hålla lösningen enkel att underhålla.</a:t>
            </a:r>
            <a:endParaRPr lang="en-US" sz="11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11521440" y="644652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078"/>
                </a:solidFill>
              </a:rPr>
              <a:t>5</a:t>
            </a:r>
            <a:endParaRPr lang="en-US" sz="1000" dirty="0"/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0258630A-265A-7FF7-9963-CB58F53B40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6348534"/>
              </p:ext>
            </p:extLst>
          </p:nvPr>
        </p:nvGraphicFramePr>
        <p:xfrm>
          <a:off x="4297680" y="3528447"/>
          <a:ext cx="6661207" cy="253959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54481">
                  <a:extLst>
                    <a:ext uri="{9D8B030D-6E8A-4147-A177-3AD203B41FA5}">
                      <a16:colId xmlns:a16="http://schemas.microsoft.com/office/drawing/2014/main" val="1635972392"/>
                    </a:ext>
                  </a:extLst>
                </a:gridCol>
                <a:gridCol w="2553363">
                  <a:extLst>
                    <a:ext uri="{9D8B030D-6E8A-4147-A177-3AD203B41FA5}">
                      <a16:colId xmlns:a16="http://schemas.microsoft.com/office/drawing/2014/main" val="1869691297"/>
                    </a:ext>
                  </a:extLst>
                </a:gridCol>
                <a:gridCol w="2553363">
                  <a:extLst>
                    <a:ext uri="{9D8B030D-6E8A-4147-A177-3AD203B41FA5}">
                      <a16:colId xmlns:a16="http://schemas.microsoft.com/office/drawing/2014/main" val="2353074666"/>
                    </a:ext>
                  </a:extLst>
                </a:gridCol>
              </a:tblGrid>
              <a:tr h="4221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Varför testas den?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Vald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5393104"/>
                  </a:ext>
                </a:extLst>
              </a:tr>
              <a:tr h="7387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Styr regularisering / hur flexibel modellen är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2094030"/>
                  </a:ext>
                </a:extLst>
              </a:tr>
              <a:tr h="7387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class_weight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Kan hjälpa vid obalanserad target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None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493732"/>
                  </a:ext>
                </a:extLst>
              </a:tr>
              <a:tr h="6022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Metric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sv-SE"/>
                        <a:t>Vad vi optimerar i GridSearchCV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Average Precision (AP)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9036348"/>
                  </a:ext>
                </a:extLst>
              </a:tr>
            </a:tbl>
          </a:graphicData>
        </a:graphic>
      </p:graphicFrame>
      <p:sp>
        <p:nvSpPr>
          <p:cNvPr id="10" name="Text 25">
            <a:extLst>
              <a:ext uri="{FF2B5EF4-FFF2-40B4-BE49-F238E27FC236}">
                <a16:creationId xmlns:a16="http://schemas.microsoft.com/office/drawing/2014/main" id="{79CD0458-E099-CD06-A7F2-682930136BD9}"/>
              </a:ext>
            </a:extLst>
          </p:cNvPr>
          <p:cNvSpPr/>
          <p:nvPr/>
        </p:nvSpPr>
        <p:spPr>
          <a:xfrm>
            <a:off x="430306" y="3528447"/>
            <a:ext cx="3246120" cy="9854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/>
              <a:t>Best CV AP:</a:t>
            </a:r>
            <a:r>
              <a:rPr lang="en-US" sz="1400" dirty="0"/>
              <a:t> 0.284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/>
              <a:t>Test AP / ROC-AUC:</a:t>
            </a:r>
            <a:r>
              <a:rPr lang="en-US" sz="1400" dirty="0"/>
              <a:t> 0.276 / 0.740</a:t>
            </a:r>
            <a:endParaRPr lang="en-US" sz="1400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13232"/>
            <a:ext cx="3246120" cy="1938528"/>
          </a:xfrm>
          <a:prstGeom prst="rect">
            <a:avLst/>
          </a:prstGeom>
          <a:solidFill>
            <a:srgbClr val="F7F9FA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3" name="Text 1"/>
          <p:cNvSpPr/>
          <p:nvPr/>
        </p:nvSpPr>
        <p:spPr>
          <a:xfrm>
            <a:off x="713232" y="1033670"/>
            <a:ext cx="2743200" cy="1252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PRIORITERING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TOP-X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209222" y="713231"/>
            <a:ext cx="7357938" cy="676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4323A"/>
                </a:solidFill>
              </a:rPr>
              <a:t>Top-X gör att inflödet till granskning blir stabilt och lättare att planera.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857499"/>
            <a:ext cx="3246120" cy="3811657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Ali vill ha en hanterbar mängd som är värd att </a:t>
            </a:r>
            <a:r>
              <a:rPr lang="en-US" sz="1400" dirty="0" err="1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granska</a:t>
            </a:r>
            <a:r>
              <a:rPr lang="en-US" sz="1400" dirty="0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.</a:t>
            </a:r>
          </a:p>
          <a:p>
            <a:pPr marL="228600" indent="-228600">
              <a:buSzPct val="100000"/>
              <a:buChar char="•"/>
            </a:pPr>
            <a:endParaRPr lang="en-US" sz="1400" dirty="0">
              <a:solidFill>
                <a:srgbClr val="24323A"/>
              </a:solidFill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sz="1400" dirty="0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Vi </a:t>
            </a:r>
            <a:r>
              <a:rPr lang="en-US" sz="1400" dirty="0" err="1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sorterar</a:t>
            </a:r>
            <a:r>
              <a:rPr lang="en-US" sz="1400" dirty="0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 </a:t>
            </a:r>
            <a:r>
              <a:rPr lang="en-US" sz="1400" dirty="0" err="1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efter</a:t>
            </a:r>
            <a:r>
              <a:rPr lang="en-US" sz="1400" dirty="0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 </a:t>
            </a:r>
            <a:r>
              <a:rPr lang="en-US" sz="1400" dirty="0" err="1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riskpoäng</a:t>
            </a:r>
            <a:r>
              <a:rPr lang="en-US" sz="1400" dirty="0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 och </a:t>
            </a:r>
            <a:r>
              <a:rPr lang="en-US" sz="1400" dirty="0" err="1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skickar</a:t>
            </a:r>
            <a:r>
              <a:rPr lang="en-US" sz="1400" dirty="0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 bara de X% </a:t>
            </a:r>
            <a:r>
              <a:rPr lang="en-US" sz="1400" dirty="0" err="1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högst</a:t>
            </a:r>
            <a:r>
              <a:rPr lang="en-US" sz="1400" dirty="0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 risk till </a:t>
            </a:r>
            <a:r>
              <a:rPr lang="en-US" sz="1400" dirty="0" err="1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granskning</a:t>
            </a:r>
            <a:r>
              <a:rPr lang="en-US" sz="1400" dirty="0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.</a:t>
            </a:r>
          </a:p>
          <a:p>
            <a:pPr marL="228600" indent="-228600">
              <a:buSzPct val="100000"/>
              <a:buFontTx/>
              <a:buChar char="•"/>
            </a:pPr>
            <a:endParaRPr lang="en-US" sz="1400" dirty="0">
              <a:solidFill>
                <a:srgbClr val="24323A"/>
              </a:solidFill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en-US" sz="1400" dirty="0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Vi </a:t>
            </a:r>
            <a:r>
              <a:rPr lang="en-US" sz="1400" dirty="0" err="1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jämför</a:t>
            </a:r>
            <a:r>
              <a:rPr lang="en-US" sz="1400" dirty="0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 top 3%, 5% och 10% </a:t>
            </a:r>
            <a:r>
              <a:rPr lang="en-US" sz="1400" dirty="0" err="1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utifrån</a:t>
            </a:r>
            <a:r>
              <a:rPr lang="en-US" sz="1400" dirty="0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 </a:t>
            </a:r>
            <a:r>
              <a:rPr lang="en-US" sz="1400" dirty="0" err="1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antal</a:t>
            </a:r>
            <a:r>
              <a:rPr lang="en-US" sz="1400" dirty="0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 </a:t>
            </a:r>
            <a:r>
              <a:rPr lang="en-US" sz="1400" dirty="0" err="1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flaggade</a:t>
            </a:r>
            <a:r>
              <a:rPr lang="en-US" sz="1400" dirty="0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 och precision.</a:t>
            </a:r>
          </a:p>
          <a:p>
            <a:pPr marL="228600" indent="-228600">
              <a:buSzPct val="100000"/>
              <a:buFontTx/>
              <a:buChar char="•"/>
            </a:pPr>
            <a:endParaRPr lang="en-US" sz="1400" dirty="0">
              <a:solidFill>
                <a:srgbClr val="24323A"/>
              </a:solidFill>
              <a:ea typeface="Arial" pitchFamily="34" charset="-122"/>
              <a:cs typeface="Arial" pitchFamily="34" charset="-120"/>
            </a:endParaRPr>
          </a:p>
          <a:p>
            <a:pPr marL="228600" indent="-228600">
              <a:buSzPct val="100000"/>
              <a:buFontTx/>
              <a:buChar char="•"/>
            </a:pPr>
            <a:r>
              <a:rPr lang="sv-SE" sz="1400" dirty="0"/>
              <a:t>Top-X ger stabil volym → lättare planera arbetsbelastning och bemanning</a:t>
            </a:r>
            <a:r>
              <a:rPr lang="en-US" sz="1400" dirty="0">
                <a:solidFill>
                  <a:srgbClr val="24323A"/>
                </a:solidFill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  <a:p>
            <a:pPr marL="228600" indent="-228600">
              <a:buSzPct val="100000"/>
              <a:buFontTx/>
              <a:buChar char="•"/>
            </a:pPr>
            <a:endParaRPr lang="en-US" sz="1550" dirty="0"/>
          </a:p>
          <a:p>
            <a:pPr marL="228600" indent="-228600">
              <a:buSzPct val="100000"/>
              <a:buFontTx/>
              <a:buChar char="•"/>
            </a:pPr>
            <a:endParaRPr lang="en-US" sz="1550" dirty="0"/>
          </a:p>
          <a:p>
            <a:pPr marL="228600" indent="-228600">
              <a:buSzPct val="100000"/>
              <a:buChar char="•"/>
            </a:pP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251960" y="3657600"/>
            <a:ext cx="6583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b="1" dirty="0">
              <a:solidFill>
                <a:srgbClr val="24323A"/>
              </a:solidFill>
            </a:endParaRPr>
          </a:p>
          <a:p>
            <a:r>
              <a:rPr lang="en-US" sz="1800" b="1" dirty="0" err="1">
                <a:solidFill>
                  <a:srgbClr val="24323A"/>
                </a:solidFill>
              </a:rPr>
              <a:t>Beslut</a:t>
            </a:r>
            <a:r>
              <a:rPr lang="en-US" sz="1800" b="1" dirty="0">
                <a:solidFill>
                  <a:srgbClr val="24323A"/>
                </a:solidFill>
              </a:rPr>
              <a:t>: Vi väljer Top </a:t>
            </a:r>
            <a:r>
              <a:rPr lang="en-US" b="1" dirty="0">
                <a:solidFill>
                  <a:srgbClr val="24323A"/>
                </a:solidFill>
              </a:rPr>
              <a:t>5</a:t>
            </a:r>
            <a:r>
              <a:rPr lang="en-US" sz="1800" b="1" dirty="0">
                <a:solidFill>
                  <a:srgbClr val="24323A"/>
                </a:solidFill>
              </a:rPr>
              <a:t>% eftersom det ger </a:t>
            </a:r>
            <a:r>
              <a:rPr lang="en-US" b="1" dirty="0">
                <a:solidFill>
                  <a:srgbClr val="24323A"/>
                </a:solidFill>
              </a:rPr>
              <a:t>ca 120</a:t>
            </a:r>
            <a:r>
              <a:rPr lang="en-US" sz="1800" b="1" dirty="0">
                <a:solidFill>
                  <a:srgbClr val="24323A"/>
                </a:solidFill>
              </a:rPr>
              <a:t> flaggningar och precision </a:t>
            </a:r>
            <a:r>
              <a:rPr lang="en-SE" b="1" dirty="0"/>
              <a:t>0.375</a:t>
            </a:r>
            <a:r>
              <a:rPr lang="en-SE" dirty="0"/>
              <a:t> (≈ </a:t>
            </a:r>
            <a:r>
              <a:rPr lang="en-SE" b="1" dirty="0"/>
              <a:t>38%</a:t>
            </a:r>
            <a:r>
              <a:rPr lang="en-SE" dirty="0"/>
              <a:t>)</a:t>
            </a:r>
            <a:r>
              <a:rPr lang="en-US" sz="1800" b="1" dirty="0">
                <a:solidFill>
                  <a:srgbClr val="24323A"/>
                </a:solidFill>
              </a:rPr>
              <a:t>.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251960" y="4608576"/>
            <a:ext cx="65836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sv-SE" sz="1600" dirty="0" err="1"/>
              <a:t>Trade</a:t>
            </a:r>
            <a:r>
              <a:rPr lang="sv-SE" sz="1600" dirty="0"/>
              <a:t>-off: vi missar vissa fall (FN) men kön hålls hanterbar.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1521440" y="644652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078"/>
                </a:solidFill>
              </a:rPr>
              <a:t>6</a:t>
            </a:r>
            <a:endParaRPr lang="en-US" sz="1000" dirty="0"/>
          </a:p>
        </p:txBody>
      </p:sp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5F474FA4-EF3E-A05F-CCCF-75A825666D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306615"/>
              </p:ext>
            </p:extLst>
          </p:nvPr>
        </p:nvGraphicFramePr>
        <p:xfrm>
          <a:off x="4251960" y="1554480"/>
          <a:ext cx="7153191" cy="2103119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384397">
                  <a:extLst>
                    <a:ext uri="{9D8B030D-6E8A-4147-A177-3AD203B41FA5}">
                      <a16:colId xmlns:a16="http://schemas.microsoft.com/office/drawing/2014/main" val="4161490875"/>
                    </a:ext>
                  </a:extLst>
                </a:gridCol>
                <a:gridCol w="2384397">
                  <a:extLst>
                    <a:ext uri="{9D8B030D-6E8A-4147-A177-3AD203B41FA5}">
                      <a16:colId xmlns:a16="http://schemas.microsoft.com/office/drawing/2014/main" val="4292718198"/>
                    </a:ext>
                  </a:extLst>
                </a:gridCol>
                <a:gridCol w="2384397">
                  <a:extLst>
                    <a:ext uri="{9D8B030D-6E8A-4147-A177-3AD203B41FA5}">
                      <a16:colId xmlns:a16="http://schemas.microsoft.com/office/drawing/2014/main" val="1923944886"/>
                    </a:ext>
                  </a:extLst>
                </a:gridCol>
              </a:tblGrid>
              <a:tr h="46613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Top-X</a:t>
                      </a:r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</a:t>
                      </a:r>
                      <a:r>
                        <a:rPr lang="en-US" dirty="0" err="1"/>
                        <a:t>flaggade</a:t>
                      </a:r>
                      <a:r>
                        <a:rPr lang="en-US" dirty="0"/>
                        <a:t> </a:t>
                      </a:r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Precision</a:t>
                      </a:r>
                      <a:endParaRPr lang="en-S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0361505"/>
                  </a:ext>
                </a:extLst>
              </a:tr>
              <a:tr h="54566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v-SE" dirty="0"/>
                        <a:t>72</a:t>
                      </a:r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E" dirty="0"/>
                        <a:t>43%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6021827"/>
                  </a:ext>
                </a:extLst>
              </a:tr>
              <a:tr h="54566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v-SE" dirty="0"/>
                        <a:t>120</a:t>
                      </a:r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E" dirty="0"/>
                        <a:t>38%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2384346"/>
                  </a:ext>
                </a:extLst>
              </a:tr>
              <a:tr h="54566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432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v-SE" b="0" dirty="0"/>
                        <a:t>240</a:t>
                      </a:r>
                      <a:endParaRPr lang="en-SE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E" b="0" dirty="0"/>
                        <a:t>30%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99505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59734"/>
            <a:ext cx="3246120" cy="2048057"/>
          </a:xfrm>
          <a:prstGeom prst="rect">
            <a:avLst/>
          </a:prstGeom>
          <a:solidFill>
            <a:srgbClr val="F7F9FA"/>
          </a:solidFill>
          <a:ln w="12700">
            <a:solidFill>
              <a:srgbClr val="4D7182"/>
            </a:solidFill>
            <a:prstDash val="solid"/>
          </a:ln>
        </p:spPr>
        <p:txBody>
          <a:bodyPr/>
          <a:lstStyle/>
          <a:p>
            <a:endParaRPr lang="en-SE"/>
          </a:p>
        </p:txBody>
      </p:sp>
      <p:sp>
        <p:nvSpPr>
          <p:cNvPr id="3" name="Text 1"/>
          <p:cNvSpPr/>
          <p:nvPr/>
        </p:nvSpPr>
        <p:spPr>
          <a:xfrm>
            <a:off x="713232" y="1028700"/>
            <a:ext cx="2743200" cy="1495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NEW_DATA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RISKER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4D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nästa steg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251960" y="9144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4323A"/>
                </a:solidFill>
              </a:rPr>
              <a:t>När new_data.csv släpps kör vi samma pipeline utan retraining och får en prioriteringslista.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0" y="15544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När</a:t>
            </a:r>
            <a:r>
              <a:rPr lang="en-US" sz="1600" b="1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new data kommer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297680" y="1828800"/>
            <a:ext cx="67665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80" i="1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load_pipeline → load_new → prioritize_new_data</a:t>
            </a:r>
            <a:endParaRPr lang="en-US" sz="1580" i="1" dirty="0"/>
          </a:p>
        </p:txBody>
      </p:sp>
      <p:sp>
        <p:nvSpPr>
          <p:cNvPr id="7" name="Text 5"/>
          <p:cNvSpPr/>
          <p:nvPr/>
        </p:nvSpPr>
        <p:spPr>
          <a:xfrm>
            <a:off x="4297680" y="2212848"/>
            <a:ext cx="67665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8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flaggar Top  5% → ___ ärenden till granskning.</a:t>
            </a:r>
            <a:endParaRPr lang="en-US" sz="1580" dirty="0"/>
          </a:p>
        </p:txBody>
      </p:sp>
      <p:sp>
        <p:nvSpPr>
          <p:cNvPr id="8" name="Text 6"/>
          <p:cNvSpPr/>
          <p:nvPr/>
        </p:nvSpPr>
        <p:spPr>
          <a:xfrm>
            <a:off x="4297680" y="2596896"/>
            <a:ext cx="67665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sv-SE" sz="1600" dirty="0"/>
              <a:t>Reflektion: Top-5% ska ge en tydlig och hanterbar kö för teamet</a:t>
            </a:r>
            <a:endParaRPr lang="en-US" sz="1580" dirty="0"/>
          </a:p>
        </p:txBody>
      </p:sp>
      <p:sp>
        <p:nvSpPr>
          <p:cNvPr id="9" name="Text 7"/>
          <p:cNvSpPr/>
          <p:nvPr/>
        </p:nvSpPr>
        <p:spPr>
          <a:xfrm>
            <a:off x="4297680" y="318211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297680" y="3456432"/>
            <a:ext cx="6858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8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Låg Top-X kan göra att vi missar vissa misstänkta fall (FN).</a:t>
            </a:r>
            <a:endParaRPr lang="en-US" sz="1580" dirty="0"/>
          </a:p>
        </p:txBody>
      </p:sp>
      <p:sp>
        <p:nvSpPr>
          <p:cNvPr id="11" name="Text 9"/>
          <p:cNvSpPr/>
          <p:nvPr/>
        </p:nvSpPr>
        <p:spPr>
          <a:xfrm>
            <a:off x="4297680" y="3840480"/>
            <a:ext cx="6858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sv-SE" sz="1600"/>
              <a:t>Beteenden kan ändras över tid (drift) → kvalitet kan sjunka</a:t>
            </a:r>
            <a:endParaRPr lang="en-US" sz="1580" dirty="0"/>
          </a:p>
        </p:txBody>
      </p:sp>
      <p:sp>
        <p:nvSpPr>
          <p:cNvPr id="12" name="Text 10"/>
          <p:cNvSpPr/>
          <p:nvPr/>
        </p:nvSpPr>
        <p:spPr>
          <a:xfrm>
            <a:off x="4297680" y="4224528"/>
            <a:ext cx="6858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8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 missing values eller ändrad datakvalitet kan påverka resultatet.</a:t>
            </a:r>
            <a:endParaRPr lang="en-US" sz="1580" dirty="0"/>
          </a:p>
        </p:txBody>
      </p:sp>
      <p:sp>
        <p:nvSpPr>
          <p:cNvPr id="13" name="Text 11"/>
          <p:cNvSpPr/>
          <p:nvPr/>
        </p:nvSpPr>
        <p:spPr>
          <a:xfrm>
            <a:off x="4297680" y="4736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Nästa steg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297680" y="5010912"/>
            <a:ext cx="6858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8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Följ upp antal flaggade och precision varje vecka.</a:t>
            </a:r>
            <a:endParaRPr lang="en-US" sz="1580" dirty="0"/>
          </a:p>
        </p:txBody>
      </p:sp>
      <p:sp>
        <p:nvSpPr>
          <p:cNvPr id="15" name="Text 13"/>
          <p:cNvSpPr/>
          <p:nvPr/>
        </p:nvSpPr>
        <p:spPr>
          <a:xfrm>
            <a:off x="4297680" y="5394960"/>
            <a:ext cx="6858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8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Justera X om teamets kapacitet ändras.</a:t>
            </a:r>
            <a:endParaRPr lang="en-US" sz="1580" dirty="0"/>
          </a:p>
        </p:txBody>
      </p:sp>
      <p:sp>
        <p:nvSpPr>
          <p:cNvPr id="16" name="Text 14"/>
          <p:cNvSpPr/>
          <p:nvPr/>
        </p:nvSpPr>
        <p:spPr>
          <a:xfrm>
            <a:off x="4297680" y="5779008"/>
            <a:ext cx="6858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28600" indent="-228600">
              <a:buSzPct val="100000"/>
              <a:buChar char="•"/>
            </a:pPr>
            <a:r>
              <a:rPr lang="en-US" sz="1580" dirty="0">
                <a:solidFill>
                  <a:srgbClr val="243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Uppdatera modellen om data eller beteenden ändras tydligt över tid.</a:t>
            </a:r>
            <a:endParaRPr lang="en-US" sz="1580" dirty="0"/>
          </a:p>
        </p:txBody>
      </p:sp>
      <p:sp>
        <p:nvSpPr>
          <p:cNvPr id="17" name="Text 15"/>
          <p:cNvSpPr/>
          <p:nvPr/>
        </p:nvSpPr>
        <p:spPr>
          <a:xfrm>
            <a:off x="11521440" y="644652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078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768</Words>
  <Application>Microsoft Office PowerPoint</Application>
  <PresentationFormat>Widescreen</PresentationFormat>
  <Paragraphs>176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Marketplace Safety – Machine Learning</dc:title>
  <dc:subject>Marketplace Safety group project</dc:subject>
  <dc:creator>OpenAI</dc:creator>
  <cp:lastModifiedBy>Yunus Emre Capar</cp:lastModifiedBy>
  <cp:revision>2</cp:revision>
  <dcterms:created xsi:type="dcterms:W3CDTF">2026-03-11T11:47:51Z</dcterms:created>
  <dcterms:modified xsi:type="dcterms:W3CDTF">2026-03-16T14:49:08Z</dcterms:modified>
</cp:coreProperties>
</file>