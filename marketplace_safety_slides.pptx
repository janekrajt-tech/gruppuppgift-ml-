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50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nus Emre Capar" userId="6e34af16be8e7db1" providerId="LiveId" clId="{1A4E8B3D-71E9-45CB-9AC9-58DE4384F4B0}"/>
    <pc:docChg chg="modSld">
      <pc:chgData name="Yunus Emre Capar" userId="6e34af16be8e7db1" providerId="LiveId" clId="{1A4E8B3D-71E9-45CB-9AC9-58DE4384F4B0}" dt="2026-03-11T12:48:11.610" v="7" actId="14100"/>
      <pc:docMkLst>
        <pc:docMk/>
      </pc:docMkLst>
      <pc:sldChg chg="modSp mod">
        <pc:chgData name="Yunus Emre Capar" userId="6e34af16be8e7db1" providerId="LiveId" clId="{1A4E8B3D-71E9-45CB-9AC9-58DE4384F4B0}" dt="2026-03-11T12:48:11.610" v="7" actId="14100"/>
        <pc:sldMkLst>
          <pc:docMk/>
          <pc:sldMk cId="0" sldId="259"/>
        </pc:sldMkLst>
        <pc:spChg chg="mod">
          <ac:chgData name="Yunus Emre Capar" userId="6e34af16be8e7db1" providerId="LiveId" clId="{1A4E8B3D-71E9-45CB-9AC9-58DE4384F4B0}" dt="2026-03-11T12:47:28.960" v="3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1T12:48:11.610" v="7" actId="14100"/>
          <ac:spMkLst>
            <pc:docMk/>
            <pc:sldMk cId="0" sldId="259"/>
            <ac:spMk id="4" creationId="{00000000-0000-0000-0000-000000000000}"/>
          </ac:spMkLst>
        </pc:spChg>
        <pc:graphicFrameChg chg="modGraphic">
          <ac:chgData name="Yunus Emre Capar" userId="6e34af16be8e7db1" providerId="LiveId" clId="{1A4E8B3D-71E9-45CB-9AC9-58DE4384F4B0}" dt="2026-03-11T12:47:52.077" v="5" actId="20577"/>
          <ac:graphicFrameMkLst>
            <pc:docMk/>
            <pc:sldMk cId="0" sldId="259"/>
            <ac:graphicFrameMk id="43" creationId="{72C8AFF7-0E47-2678-2A01-53551B3BFD4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1741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D9E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E5EA"/>
          </a:solidFill>
          <a:ln w="12700">
            <a:solidFill>
              <a:srgbClr val="D9E5E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+ kravkort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713232"/>
            <a:ext cx="72237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4323A"/>
                </a:solidFill>
              </a:rPr>
              <a:t>Marketplace Safety – prioritera vad som ska granskas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297680" y="1481327"/>
            <a:ext cx="6858000" cy="446723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8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sz="18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8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Plattformen</a:t>
            </a:r>
            <a:r>
              <a:rPr lang="en-US" sz="18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får många annonser och meddelanden – vissa är scam eller spam.</a:t>
            </a:r>
          </a:p>
          <a:p>
            <a:pPr marL="228600" indent="-228600">
              <a:buSzPct val="100000"/>
              <a:buChar char="•"/>
            </a:pPr>
            <a:endParaRPr lang="en-US" sz="18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Safety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hinner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granska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Stakeholder: Ali (Operations Manager).</a:t>
            </a: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Viktigast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för Ali: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hanterbar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flaggningarna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känns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värda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granska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Mål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beslutsstöd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köras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regelbundet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fungera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på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data.</a:t>
            </a:r>
            <a:endParaRPr lang="en-US" dirty="0">
              <a:solidFill>
                <a:srgbClr val="24323A"/>
              </a:solidFill>
              <a:latin typeface="Arial" pitchFamily="34" charset="0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i="1" dirty="0">
                <a:solidFill>
                  <a:srgbClr val="4D7182"/>
                </a:solidFill>
              </a:rPr>
              <a:t>Operations-</a:t>
            </a:r>
            <a:r>
              <a:rPr lang="en-US" i="1" dirty="0" err="1">
                <a:solidFill>
                  <a:srgbClr val="4D7182"/>
                </a:solidFill>
              </a:rPr>
              <a:t>fokus</a:t>
            </a:r>
            <a:r>
              <a:rPr lang="en-US" i="1" dirty="0">
                <a:solidFill>
                  <a:srgbClr val="4D7182"/>
                </a:solidFill>
              </a:rPr>
              <a:t>: </a:t>
            </a:r>
            <a:r>
              <a:rPr lang="en-US" i="1" dirty="0" err="1">
                <a:solidFill>
                  <a:srgbClr val="4D7182"/>
                </a:solidFill>
              </a:rPr>
              <a:t>färre</a:t>
            </a:r>
            <a:r>
              <a:rPr lang="en-US" i="1" dirty="0">
                <a:solidFill>
                  <a:srgbClr val="4D7182"/>
                </a:solidFill>
              </a:rPr>
              <a:t> men </a:t>
            </a:r>
            <a:r>
              <a:rPr lang="en-US" i="1" dirty="0" err="1">
                <a:solidFill>
                  <a:srgbClr val="4D7182"/>
                </a:solidFill>
              </a:rPr>
              <a:t>bättre</a:t>
            </a:r>
            <a:r>
              <a:rPr lang="en-US" i="1" dirty="0">
                <a:solidFill>
                  <a:srgbClr val="4D7182"/>
                </a:solidFill>
              </a:rPr>
              <a:t> </a:t>
            </a:r>
            <a:r>
              <a:rPr lang="en-US" i="1" dirty="0" err="1">
                <a:solidFill>
                  <a:srgbClr val="4D7182"/>
                </a:solidFill>
              </a:rPr>
              <a:t>flaggningar</a:t>
            </a:r>
            <a:r>
              <a:rPr lang="en-US" i="1" dirty="0">
                <a:solidFill>
                  <a:srgbClr val="4D7182"/>
                </a:solidFill>
              </a:rPr>
              <a:t>.</a:t>
            </a: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Char char="•"/>
            </a:pP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669" y="451833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530352"/>
            <a:ext cx="27432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INSIKTER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(historical_data)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315968" y="53035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Historisk data används för att förstå problemet och bygga modellen.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669" y="2756916"/>
            <a:ext cx="3246120" cy="3410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550" b="1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sz="1550" b="1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55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12 000 rader och 18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kolumner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</a:t>
            </a:r>
            <a:r>
              <a:rPr lang="en-US" sz="1550" b="1" i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is_suspicious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 10%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misstänkta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90%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misstänkta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Misstänkta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tenderar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yngre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Saknade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värden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finns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främst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price, </a:t>
            </a:r>
            <a:r>
              <a:rPr lang="en-US" sz="1550" i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time_to_first_response_min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sz="1550" i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Char char="•"/>
            </a:pPr>
            <a:endParaRPr lang="en-US" sz="1550" dirty="0"/>
          </a:p>
        </p:txBody>
      </p:sp>
      <p:pic>
        <p:nvPicPr>
          <p:cNvPr id="9" name="Image 0" descr="/mnt/data/slide_assets/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498" y="1234440"/>
            <a:ext cx="3246120" cy="2103120"/>
          </a:xfrm>
          <a:prstGeom prst="rect">
            <a:avLst/>
          </a:prstGeom>
        </p:spPr>
      </p:pic>
      <p:pic>
        <p:nvPicPr>
          <p:cNvPr id="10" name="Image 1" descr="/mnt/data/slide_assets/missing_to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034" y="1234440"/>
            <a:ext cx="3516406" cy="209397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98498" y="3364992"/>
            <a:ext cx="31816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F7078"/>
                </a:solidFill>
              </a:rPr>
              <a:t>Endast ca 10% är misstänkta → obalanserat problem.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8005034" y="3364992"/>
            <a:ext cx="36495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F7078"/>
                </a:solidFill>
              </a:rPr>
              <a:t>Saknade värden hanteras i pipelinen med imputering.</a:t>
            </a:r>
            <a:endParaRPr lang="en-US" sz="1350" dirty="0"/>
          </a:p>
        </p:txBody>
      </p:sp>
      <p:pic>
        <p:nvPicPr>
          <p:cNvPr id="13" name="Image 2" descr="/mnt/data/slide_assets/account_age_box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8498" y="4041648"/>
            <a:ext cx="3181643" cy="2286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28432" y="4041648"/>
            <a:ext cx="3383280" cy="169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23A"/>
                </a:solidFill>
              </a:rPr>
              <a:t>Yngre konton verkar oftare vara kopplade till misstänkt </a:t>
            </a:r>
            <a:r>
              <a:rPr lang="en-US" sz="1600" dirty="0" err="1">
                <a:solidFill>
                  <a:srgbClr val="24323A"/>
                </a:solidFill>
              </a:rPr>
              <a:t>beteende</a:t>
            </a:r>
            <a:r>
              <a:rPr lang="en-US" sz="1600" dirty="0">
                <a:solidFill>
                  <a:srgbClr val="24323A"/>
                </a:solidFill>
              </a:rPr>
              <a:t>.</a:t>
            </a:r>
          </a:p>
          <a:p>
            <a:endParaRPr lang="en-US" sz="1600" dirty="0">
              <a:solidFill>
                <a:srgbClr val="24323A"/>
              </a:solidFill>
            </a:endParaRPr>
          </a:p>
          <a:p>
            <a:r>
              <a:rPr lang="en-US" sz="1600" i="1" dirty="0">
                <a:solidFill>
                  <a:srgbClr val="5F7078"/>
                </a:solidFill>
              </a:rPr>
              <a:t>Detta </a:t>
            </a:r>
            <a:r>
              <a:rPr lang="en-US" sz="1600" i="1" dirty="0" err="1">
                <a:solidFill>
                  <a:srgbClr val="5F7078"/>
                </a:solidFill>
              </a:rPr>
              <a:t>tyder</a:t>
            </a:r>
            <a:r>
              <a:rPr lang="en-US" sz="1600" i="1" dirty="0">
                <a:solidFill>
                  <a:srgbClr val="5F7078"/>
                </a:solidFill>
              </a:rPr>
              <a:t> på </a:t>
            </a:r>
            <a:r>
              <a:rPr lang="en-US" sz="1600" i="1" dirty="0" err="1">
                <a:solidFill>
                  <a:srgbClr val="5F7078"/>
                </a:solidFill>
              </a:rPr>
              <a:t>att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kontoålder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kan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vara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en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viktig</a:t>
            </a:r>
            <a:r>
              <a:rPr lang="en-US" sz="1600" i="1" dirty="0">
                <a:solidFill>
                  <a:srgbClr val="5F7078"/>
                </a:solidFill>
              </a:rPr>
              <a:t> feature </a:t>
            </a:r>
            <a:r>
              <a:rPr lang="en-US" sz="1600" i="1" dirty="0" err="1">
                <a:solidFill>
                  <a:srgbClr val="5F7078"/>
                </a:solidFill>
              </a:rPr>
              <a:t>i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modellen</a:t>
            </a:r>
            <a:r>
              <a:rPr lang="en-US" sz="1600" i="1" dirty="0">
                <a:solidFill>
                  <a:srgbClr val="5F7078"/>
                </a:solidFill>
              </a:rPr>
              <a:t>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964096"/>
            <a:ext cx="2743200" cy="1321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&amp;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leakage-säker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0"/>
            <a:ext cx="7406640" cy="5605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4323A"/>
                </a:solidFill>
              </a:rPr>
              <a:t>Samma flöde används i träning, validering, test och senare på </a:t>
            </a:r>
            <a:r>
              <a:rPr lang="en-US" sz="2300" b="1" dirty="0" err="1">
                <a:solidFill>
                  <a:srgbClr val="24323A"/>
                </a:solidFill>
              </a:rPr>
              <a:t>new_data</a:t>
            </a:r>
            <a:r>
              <a:rPr lang="en-US" sz="2300" b="1" dirty="0">
                <a:solidFill>
                  <a:srgbClr val="24323A"/>
                </a:solidFill>
              </a:rPr>
              <a:t>.</a:t>
            </a:r>
          </a:p>
          <a:p>
            <a:pPr marL="0" indent="0">
              <a:buNone/>
            </a:pPr>
            <a:endParaRPr lang="en-US" sz="2300" b="1" dirty="0">
              <a:solidFill>
                <a:srgbClr val="24323A"/>
              </a:solidFill>
            </a:endParaRPr>
          </a:p>
          <a:p>
            <a:r>
              <a:rPr lang="en-US" sz="1600" b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Arbetsflöde</a:t>
            </a:r>
            <a:endParaRPr lang="en-US" sz="1600" b="1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endParaRPr lang="en-US" sz="1600" b="1" dirty="0">
              <a:solidFill>
                <a:srgbClr val="24323A"/>
              </a:solidFill>
              <a:latin typeface="Arial" pitchFamily="34" charset="0"/>
              <a:cs typeface="Arial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train/test split på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historical_data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Numeriska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variabler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median-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imputering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Kategoriska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variabler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vanligaste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värdet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one-hot encoding.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Modellen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ligger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pipeline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preprocessingen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marL="0" indent="0">
              <a:buNone/>
            </a:pP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315968" y="4114800"/>
            <a:ext cx="1874520" cy="658368"/>
          </a:xfrm>
          <a:prstGeom prst="rect">
            <a:avLst/>
          </a:prstGeom>
          <a:solidFill>
            <a:srgbClr val="F4F7F8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11" name="Shape 9"/>
          <p:cNvSpPr/>
          <p:nvPr/>
        </p:nvSpPr>
        <p:spPr>
          <a:xfrm>
            <a:off x="6492240" y="4114800"/>
            <a:ext cx="1874520" cy="658368"/>
          </a:xfrm>
          <a:prstGeom prst="rect">
            <a:avLst/>
          </a:prstGeom>
          <a:solidFill>
            <a:srgbClr val="F4F7F8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12" name="Shape 10"/>
          <p:cNvSpPr/>
          <p:nvPr/>
        </p:nvSpPr>
        <p:spPr>
          <a:xfrm>
            <a:off x="8668512" y="4114800"/>
            <a:ext cx="1874520" cy="658368"/>
          </a:xfrm>
          <a:prstGeom prst="rect">
            <a:avLst/>
          </a:prstGeom>
          <a:solidFill>
            <a:srgbClr val="F4F7F8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13" name="Text 11"/>
          <p:cNvSpPr/>
          <p:nvPr/>
        </p:nvSpPr>
        <p:spPr>
          <a:xfrm>
            <a:off x="4498848" y="427939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Train/Test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Split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Preprocess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+ Impute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9680" y="42793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Modell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+ CV/Test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45352" y="42793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D7182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21624" y="42793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D718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297680" y="4937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Varför pipeline?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97680" y="5349240"/>
            <a:ext cx="6400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Undviker data leakage.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5742432"/>
            <a:ext cx="6400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 lösningen reproducerbar.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97680" y="6135624"/>
            <a:ext cx="6400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 det enkelt att köra exakt samma flöde på new_data.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60344"/>
            <a:ext cx="3246120" cy="2097157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506895" y="1051559"/>
            <a:ext cx="3160643" cy="1497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MODELLJÄMFÖRELSE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(cross-validation)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98064"/>
            <a:ext cx="3246120" cy="3299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Modeller: Baseline, Logistic Regression, Random Forest.</a:t>
            </a:r>
          </a:p>
          <a:p>
            <a:pPr marL="228600" indent="-228600">
              <a:buSzPct val="100000"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jämför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med CV på train med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flera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metrics.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är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viktigast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för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oss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eftersom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senare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använder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Top-X.</a:t>
            </a: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Char char="•"/>
            </a:pP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4297680" y="4378187"/>
            <a:ext cx="7132320" cy="559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24323A"/>
                </a:solidFill>
              </a:rPr>
              <a:t>Vi valde Logistic Regression eftersom den hade högst AP (bäst ranking), vilket passar vår Top-X-prioritering.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315968" y="503834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7078"/>
                </a:solidFill>
              </a:rPr>
              <a:t>* Precision beror på vald threshold. I drift använder vi Top-X.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4</a:t>
            </a:r>
            <a:endParaRPr lang="en-US" sz="1000" dirty="0"/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72C8AFF7-0E47-2678-2A01-53551B3BF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140104"/>
              </p:ext>
            </p:extLst>
          </p:nvPr>
        </p:nvGraphicFramePr>
        <p:xfrm>
          <a:off x="4164495" y="760343"/>
          <a:ext cx="7941364" cy="32995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5341">
                  <a:extLst>
                    <a:ext uri="{9D8B030D-6E8A-4147-A177-3AD203B41FA5}">
                      <a16:colId xmlns:a16="http://schemas.microsoft.com/office/drawing/2014/main" val="3142963387"/>
                    </a:ext>
                  </a:extLst>
                </a:gridCol>
                <a:gridCol w="1985341">
                  <a:extLst>
                    <a:ext uri="{9D8B030D-6E8A-4147-A177-3AD203B41FA5}">
                      <a16:colId xmlns:a16="http://schemas.microsoft.com/office/drawing/2014/main" val="477341863"/>
                    </a:ext>
                  </a:extLst>
                </a:gridCol>
                <a:gridCol w="1985341">
                  <a:extLst>
                    <a:ext uri="{9D8B030D-6E8A-4147-A177-3AD203B41FA5}">
                      <a16:colId xmlns:a16="http://schemas.microsoft.com/office/drawing/2014/main" val="3835905417"/>
                    </a:ext>
                  </a:extLst>
                </a:gridCol>
                <a:gridCol w="1985341">
                  <a:extLst>
                    <a:ext uri="{9D8B030D-6E8A-4147-A177-3AD203B41FA5}">
                      <a16:colId xmlns:a16="http://schemas.microsoft.com/office/drawing/2014/main" val="3691258671"/>
                    </a:ext>
                  </a:extLst>
                </a:gridCol>
              </a:tblGrid>
              <a:tr h="4769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(CV)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ROC-AUC (CV)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(CV)*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241180"/>
                  </a:ext>
                </a:extLst>
              </a:tr>
              <a:tr h="8232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800" dirty="0"/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(Dummy)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0.102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0.500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512469"/>
                  </a:ext>
                </a:extLst>
              </a:tr>
              <a:tr h="8232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0.731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0.498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5945600"/>
                  </a:ext>
                </a:extLst>
              </a:tr>
              <a:tr h="11760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</a:t>
                      </a:r>
                      <a:endParaRPr lang="en-US" sz="1800" dirty="0"/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Regression</a:t>
                      </a:r>
                      <a:endParaRPr lang="en-US" sz="1800" dirty="0"/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vald</a:t>
                      </a: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0.286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0.739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43905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39856"/>
            <a:ext cx="3246120" cy="2067935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VALD MODELL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TUNING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Nästa steg är att finjustera den valda modellen utan att göra lösningen svår att drifta.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0" y="1645920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Vald modell: Logistic Regression.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297680" y="2121408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med GridSearchCV på 1–2 parametrar.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97680" y="2596896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Planerade parametrar: C och eventuellt class_weight.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297680" y="3072384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Målet är bättre ranking och mer stabil kvalitet.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251960" y="544068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6A00"/>
                </a:solidFill>
              </a:rPr>
              <a:t>Uppdatera denna slide med slutliga tuning-resultat innan redovisningen.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5</a:t>
            </a:r>
            <a:endParaRPr lang="en-US" sz="1000" dirty="0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258630A-265A-7FF7-9963-CB58F53B4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214019"/>
              </p:ext>
            </p:extLst>
          </p:nvPr>
        </p:nvGraphicFramePr>
        <p:xfrm>
          <a:off x="4251961" y="3474721"/>
          <a:ext cx="7660089" cy="1887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53363">
                  <a:extLst>
                    <a:ext uri="{9D8B030D-6E8A-4147-A177-3AD203B41FA5}">
                      <a16:colId xmlns:a16="http://schemas.microsoft.com/office/drawing/2014/main" val="1635972392"/>
                    </a:ext>
                  </a:extLst>
                </a:gridCol>
                <a:gridCol w="2553363">
                  <a:extLst>
                    <a:ext uri="{9D8B030D-6E8A-4147-A177-3AD203B41FA5}">
                      <a16:colId xmlns:a16="http://schemas.microsoft.com/office/drawing/2014/main" val="1869691297"/>
                    </a:ext>
                  </a:extLst>
                </a:gridCol>
                <a:gridCol w="2553363">
                  <a:extLst>
                    <a:ext uri="{9D8B030D-6E8A-4147-A177-3AD203B41FA5}">
                      <a16:colId xmlns:a16="http://schemas.microsoft.com/office/drawing/2014/main" val="2353074666"/>
                    </a:ext>
                  </a:extLst>
                </a:gridCol>
              </a:tblGrid>
              <a:tr h="4239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Varför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testas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den?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393104"/>
                  </a:ext>
                </a:extLst>
              </a:tr>
              <a:tr h="7317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Styr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regularisering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hur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flexibel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modellen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är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Fylls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när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notebook 3 är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klar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2094030"/>
                  </a:ext>
                </a:extLst>
              </a:tr>
              <a:tr h="7317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class_weight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hjälpa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vid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obalanserad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target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Fylls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när</a:t>
                      </a: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notebook 3 är </a:t>
                      </a:r>
                      <a:r>
                        <a:rPr lang="en-US" sz="1800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klar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4937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033670"/>
            <a:ext cx="2743200" cy="1252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PRIORITERING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TOP-X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09222" y="713231"/>
            <a:ext cx="7357938" cy="676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Top-X gör att inflödet till granskning blir stabilt och lättare att planera.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857499"/>
            <a:ext cx="3246120" cy="381165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 vill ha en hanterbar mängd som är värd att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granska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sorterar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efter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riskpoäng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skickar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bara de X%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högst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risk till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granskning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jämför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 3%, 5% och 10%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utifrån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antal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flaggade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precision.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Detta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hjälper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planering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arbetsbelastning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bemanning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Char char="•"/>
            </a:pP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251960" y="3657600"/>
            <a:ext cx="6583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b="1" dirty="0">
              <a:solidFill>
                <a:srgbClr val="24323A"/>
              </a:solidFill>
            </a:endParaRPr>
          </a:p>
          <a:p>
            <a:pPr marL="0" indent="0">
              <a:buNone/>
            </a:pPr>
            <a:r>
              <a:rPr lang="en-US" sz="1800" b="1" dirty="0" err="1">
                <a:solidFill>
                  <a:srgbClr val="24323A"/>
                </a:solidFill>
              </a:rPr>
              <a:t>Beslut</a:t>
            </a:r>
            <a:r>
              <a:rPr lang="en-US" sz="1800" b="1" dirty="0">
                <a:solidFill>
                  <a:srgbClr val="24323A"/>
                </a:solidFill>
              </a:rPr>
              <a:t>: Vi väljer Top ___% eftersom det ger ___ flaggningar och precision ___.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251960" y="4224528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6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FP: onödiga granskningar och mer kö.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251960" y="4608576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6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FN: vissa misstänkta fall missas.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251960" y="4992624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6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 Operations är det viktigast att hålla volymen hanterbar.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5F474FA4-EF3E-A05F-CCCF-75A825666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8493"/>
              </p:ext>
            </p:extLst>
          </p:nvPr>
        </p:nvGraphicFramePr>
        <p:xfrm>
          <a:off x="4251960" y="1554480"/>
          <a:ext cx="7153191" cy="210311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84397">
                  <a:extLst>
                    <a:ext uri="{9D8B030D-6E8A-4147-A177-3AD203B41FA5}">
                      <a16:colId xmlns:a16="http://schemas.microsoft.com/office/drawing/2014/main" val="4161490875"/>
                    </a:ext>
                  </a:extLst>
                </a:gridCol>
                <a:gridCol w="2384397">
                  <a:extLst>
                    <a:ext uri="{9D8B030D-6E8A-4147-A177-3AD203B41FA5}">
                      <a16:colId xmlns:a16="http://schemas.microsoft.com/office/drawing/2014/main" val="4292718198"/>
                    </a:ext>
                  </a:extLst>
                </a:gridCol>
                <a:gridCol w="2384397">
                  <a:extLst>
                    <a:ext uri="{9D8B030D-6E8A-4147-A177-3AD203B41FA5}">
                      <a16:colId xmlns:a16="http://schemas.microsoft.com/office/drawing/2014/main" val="1923944886"/>
                    </a:ext>
                  </a:extLst>
                </a:gridCol>
              </a:tblGrid>
              <a:tr h="4661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Top-X</a:t>
                      </a:r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</a:t>
                      </a:r>
                      <a:r>
                        <a:rPr lang="en-US" dirty="0" err="1"/>
                        <a:t>flaggade</a:t>
                      </a:r>
                      <a:r>
                        <a:rPr lang="en-US" dirty="0"/>
                        <a:t> </a:t>
                      </a:r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Precision</a:t>
                      </a:r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361505"/>
                  </a:ext>
                </a:extLst>
              </a:tr>
              <a:tr h="5456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021827"/>
                  </a:ext>
                </a:extLst>
              </a:tr>
              <a:tr h="5456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384346"/>
                  </a:ext>
                </a:extLst>
              </a:tr>
              <a:tr h="5456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99505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59734"/>
            <a:ext cx="3246120" cy="2048057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028700"/>
            <a:ext cx="2743200" cy="1495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NEW_DATA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RISKER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nästa steg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914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När new_data.csv släpps kör vi samma pipeline utan retraining och får en prioriteringslista.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0" y="1554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När new_data kommer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97680" y="1828800"/>
            <a:ext cx="67665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i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load_pipeline → load_new → prioritize_new_data</a:t>
            </a:r>
            <a:endParaRPr lang="en-US" sz="1580" i="1" dirty="0"/>
          </a:p>
        </p:txBody>
      </p:sp>
      <p:sp>
        <p:nvSpPr>
          <p:cNvPr id="7" name="Text 5"/>
          <p:cNvSpPr/>
          <p:nvPr/>
        </p:nvSpPr>
        <p:spPr>
          <a:xfrm>
            <a:off x="4297680" y="2212848"/>
            <a:ext cx="67665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flaggar Top ___% → ___ ärenden till granskning.</a:t>
            </a:r>
            <a:endParaRPr lang="en-US" sz="1580" dirty="0"/>
          </a:p>
        </p:txBody>
      </p:sp>
      <p:sp>
        <p:nvSpPr>
          <p:cNvPr id="8" name="Text 6"/>
          <p:cNvSpPr/>
          <p:nvPr/>
        </p:nvSpPr>
        <p:spPr>
          <a:xfrm>
            <a:off x="4297680" y="2596896"/>
            <a:ext cx="67665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Reflektion: volymen ska kännas hanterbar och ge en tydlig kö.</a:t>
            </a:r>
            <a:endParaRPr lang="en-US" sz="1580" dirty="0"/>
          </a:p>
        </p:txBody>
      </p:sp>
      <p:sp>
        <p:nvSpPr>
          <p:cNvPr id="9" name="Text 7"/>
          <p:cNvSpPr/>
          <p:nvPr/>
        </p:nvSpPr>
        <p:spPr>
          <a:xfrm>
            <a:off x="4297680" y="3182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97680" y="3456432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Låg Top-X kan göra att vi missar vissa misstänkta fall (FN).</a:t>
            </a:r>
            <a:endParaRPr lang="en-US" sz="1580" dirty="0"/>
          </a:p>
        </p:txBody>
      </p:sp>
      <p:sp>
        <p:nvSpPr>
          <p:cNvPr id="11" name="Text 9"/>
          <p:cNvSpPr/>
          <p:nvPr/>
        </p:nvSpPr>
        <p:spPr>
          <a:xfrm>
            <a:off x="4297680" y="3840480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Beteenden kan ändras över tid (drift).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297680" y="4224528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 missing values eller ändrad datakvalitet kan påverka resultatet.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4297680" y="4736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Nästa steg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97680" y="5010912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Följ upp antal flaggade och precision varje vecka.</a:t>
            </a:r>
            <a:endParaRPr lang="en-US" sz="1580" dirty="0"/>
          </a:p>
        </p:txBody>
      </p:sp>
      <p:sp>
        <p:nvSpPr>
          <p:cNvPr id="15" name="Text 13"/>
          <p:cNvSpPr/>
          <p:nvPr/>
        </p:nvSpPr>
        <p:spPr>
          <a:xfrm>
            <a:off x="4297680" y="5394960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Justera X om teamets kapacitet ändras.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4297680" y="5779008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Uppdatera modellen om data eller beteenden ändras tydligt över tid.</a:t>
            </a:r>
            <a:endParaRPr lang="en-US" sz="1580" dirty="0"/>
          </a:p>
        </p:txBody>
      </p:sp>
      <p:sp>
        <p:nvSpPr>
          <p:cNvPr id="17" name="Text 15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731</Words>
  <Application>Microsoft Office PowerPoint</Application>
  <PresentationFormat>Widescreen</PresentationFormat>
  <Paragraphs>169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Marketplace Safety – Machine Learning</dc:title>
  <dc:subject>Marketplace Safety group project</dc:subject>
  <dc:creator>OpenAI</dc:creator>
  <cp:lastModifiedBy>Yunus Emre Capar</cp:lastModifiedBy>
  <cp:revision>2</cp:revision>
  <dcterms:created xsi:type="dcterms:W3CDTF">2026-03-11T11:47:51Z</dcterms:created>
  <dcterms:modified xsi:type="dcterms:W3CDTF">2026-03-11T12:48:17Z</dcterms:modified>
</cp:coreProperties>
</file>